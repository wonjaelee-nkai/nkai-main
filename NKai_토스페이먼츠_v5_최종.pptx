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N-KAI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286000" cy="2743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토스페이먼츠 결제 연동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및 결제 경로 안내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141732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2D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8CFF"/>
                </a:solidFill>
              </a:rPr>
              <a:t>₩9,900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1600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유료 상품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0" y="1847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Standard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98080" y="1097280"/>
            <a:ext cx="141732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0" y="1188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8F"/>
                </a:solidFill>
              </a:rPr>
              <a:t>6종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1600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결제 수단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0" y="1847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카드·간편·계좌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675120" y="2468880"/>
            <a:ext cx="1417320" cy="1097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0C6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2560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674"/>
                </a:solidFill>
              </a:rPr>
              <a:t>4개국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2971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지원 언어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0" y="32186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KO·EN·JA·ZH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뉴린카이로스에이아이(주)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사업자등록번호: 172-87-03400  |  대표이사: 이원재  |  neurinkairosai.com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57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2026. 03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회사 및 서비스 개요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2D35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674"/>
                </a:solidFill>
              </a:rPr>
              <a:t>회사 정보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474720" cy="18288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28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상호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뉴린카이로스에이아이(주)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대표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1762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이원재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237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사업자번호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5237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172-87-03400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8712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설립일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8712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2025. 09. 11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218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본사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32186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서울 강남구 테헤란로77길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566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도메인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566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neurinkairosai.com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9136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업종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913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AI×금융×행동심리학 플랫폼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188720"/>
            <a:ext cx="4206240" cy="1508760"/>
          </a:xfrm>
          <a:prstGeom prst="rect">
            <a:avLst/>
          </a:prstGeom>
          <a:solidFill>
            <a:srgbClr val="1A1F35"/>
          </a:solidFill>
          <a:ln w="12700">
            <a:solidFill>
              <a:srgbClr val="2D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8CFF"/>
                </a:solidFill>
              </a:rPr>
              <a:t>N-KAI 플랫폼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1691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AI × 금융 × 행동심리학 융합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금융 페르소나 분석 플랫폼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834640"/>
            <a:ext cx="13716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0C6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2926080"/>
            <a:ext cx="457200" cy="457200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4564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선천적 기질 분석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생년월일 기반 에너지 DNA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16752" y="2834640"/>
            <a:ext cx="13716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73952" y="2926080"/>
            <a:ext cx="457200" cy="457200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31" name="Text 29"/>
          <p:cNvSpPr/>
          <p:nvPr/>
        </p:nvSpPr>
        <p:spPr>
          <a:xfrm>
            <a:off x="6062472" y="34564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KIPA 16문항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62472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후천적 성향 행동 설문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61504" y="2834640"/>
            <a:ext cx="1371600" cy="16459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5B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18704" y="2926080"/>
            <a:ext cx="457200" cy="457200"/>
          </a:xfrm>
          <a:prstGeom prst="ellipse">
            <a:avLst/>
          </a:prstGeom>
          <a:solidFill>
            <a:srgbClr val="7C5BF0"/>
          </a:solidFill>
          <a:ln/>
        </p:spPr>
      </p:sp>
      <p:sp>
        <p:nvSpPr>
          <p:cNvPr id="35" name="Text 33"/>
          <p:cNvSpPr/>
          <p:nvPr/>
        </p:nvSpPr>
        <p:spPr>
          <a:xfrm>
            <a:off x="7507224" y="34564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4종 알고리즘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507224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Bayesian·CDE·ROC·Cluster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특허 4건 + 상표 3건 출원 완료 (출원일 2025.10.24) | 특허 P25KAI001KR 심사청구 완료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결제 상품 구성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005840" cy="27432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공유 획득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무료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(공유 조건)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2423160" cy="18288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ITE 결과 요약 이메일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55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금융 DNA 카드 공유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739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기본 N-Score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1239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아키타입 분류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3749040"/>
          </a:xfrm>
          <a:prstGeom prst="rect">
            <a:avLst/>
          </a:prstGeom>
          <a:solidFill>
            <a:srgbClr val="1A1F35"/>
          </a:solidFill>
          <a:ln w="25400">
            <a:solidFill>
              <a:srgbClr val="2D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188720"/>
            <a:ext cx="1005840" cy="274320"/>
          </a:xfrm>
          <a:prstGeom prst="rect">
            <a:avLst/>
          </a:prstGeom>
          <a:solidFill>
            <a:srgbClr val="2D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핵심 상품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1572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3756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₩9,900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37560" y="2514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현재 수익화 대상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834640"/>
            <a:ext cx="2423160" cy="18288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SNAPSHOT PDF 리포트(10p)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355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골든타임 12개월 캘린더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739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5축 교차 분석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41239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궁합 체험 ×1회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097280"/>
            <a:ext cx="269748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5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88720"/>
            <a:ext cx="1005840" cy="274320"/>
          </a:xfrm>
          <a:prstGeom prst="rect">
            <a:avLst/>
          </a:prstGeom>
          <a:solidFill>
            <a:srgbClr val="7C5BF0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188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로드맵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72200" y="1572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5B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VIP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7220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₩49,900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72200" y="2514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Phase 3 출시 예정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2834640"/>
            <a:ext cx="2423160" cy="18288"/>
          </a:xfrm>
          <a:prstGeom prst="rect">
            <a:avLst/>
          </a:prstGeom>
          <a:solidFill>
            <a:srgbClr val="2D3548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2971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F0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음성 AI 대화 (24/7)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3355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F0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음성파형 감정분석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7398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F0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맞춤 웰니스 플랜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41239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F0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T-60 고정밀 예측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674"/>
                </a:solidFill>
              </a:rPr>
              <a:t>현재 수익화 가능: Standard (₩9,900) | 통신판매업 신고 완료 | 토스페이먼츠 live키 교체만 남음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결제 흐름 (Payment Flow)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2801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344168"/>
            <a:ext cx="512064" cy="512064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분석 완료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40487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선천기질 + KIPA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결과 화면 표시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27632" y="2240280"/>
            <a:ext cx="118872" cy="0"/>
          </a:xfrm>
          <a:prstGeom prst="line">
            <a:avLst/>
          </a:prstGeom>
          <a:noFill/>
          <a:ln w="19050">
            <a:solidFill>
              <a:srgbClr val="00D6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1234440"/>
            <a:ext cx="12801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5AA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344168"/>
            <a:ext cx="512064" cy="512064"/>
          </a:xfrm>
          <a:prstGeom prst="ellipse">
            <a:avLst/>
          </a:prstGeom>
          <a:solidFill>
            <a:srgbClr val="5AA8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업그레이드 클릭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10512" y="240487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₩9,900 Standard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버튼 클릭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72384" y="2240280"/>
            <a:ext cx="118872" cy="0"/>
          </a:xfrm>
          <a:prstGeom prst="line">
            <a:avLst/>
          </a:prstGeom>
          <a:noFill/>
          <a:ln w="19050">
            <a:solidFill>
              <a:srgbClr val="5A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9544" y="1234440"/>
            <a:ext cx="12801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93592" y="1344168"/>
            <a:ext cx="512064" cy="512064"/>
          </a:xfrm>
          <a:prstGeom prst="ellipse">
            <a:avLst/>
          </a:prstGeom>
          <a:solidFill>
            <a:srgbClr val="0064FF"/>
          </a:solidFill>
          <a:ln/>
        </p:spPr>
      </p:sp>
      <p:sp>
        <p:nvSpPr>
          <p:cNvPr id="19" name="Text 17"/>
          <p:cNvSpPr/>
          <p:nvPr/>
        </p:nvSpPr>
        <p:spPr>
          <a:xfrm>
            <a:off x="3593592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55264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결제창 호출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55264" y="240487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토스페이먼츠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Widget 렌더링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17136" y="2240280"/>
            <a:ext cx="118872" cy="0"/>
          </a:xfrm>
          <a:prstGeom prst="line">
            <a:avLst/>
          </a:prstGeom>
          <a:noFill/>
          <a:ln w="19050">
            <a:solidFill>
              <a:srgbClr val="006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4296" y="1234440"/>
            <a:ext cx="12801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2D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38344" y="1344168"/>
            <a:ext cx="512064" cy="512064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38344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0016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결제 수단 선택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0016" y="240487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카드·카카오페이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네이버페이 등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61888" y="2240280"/>
            <a:ext cx="118872" cy="0"/>
          </a:xfrm>
          <a:prstGeom prst="line">
            <a:avLst/>
          </a:prstGeom>
          <a:noFill/>
          <a:ln w="19050">
            <a:solidFill>
              <a:srgbClr val="2D8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9048" y="1234440"/>
            <a:ext cx="12801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F0C6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83096" y="1344168"/>
            <a:ext cx="512064" cy="512064"/>
          </a:xfrm>
          <a:prstGeom prst="ellipse">
            <a:avLst/>
          </a:prstGeom>
          <a:solidFill>
            <a:srgbClr val="F0C674"/>
          </a:solidFill>
          <a:ln/>
        </p:spPr>
      </p:sp>
      <p:sp>
        <p:nvSpPr>
          <p:cNvPr id="31" name="Text 29"/>
          <p:cNvSpPr/>
          <p:nvPr/>
        </p:nvSpPr>
        <p:spPr>
          <a:xfrm>
            <a:off x="6483096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44768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결제 승인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44768" y="240487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GAS confirmToss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Payment() 호출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06640" y="2240280"/>
            <a:ext cx="118872" cy="0"/>
          </a:xfrm>
          <a:prstGeom prst="line">
            <a:avLst/>
          </a:prstGeom>
          <a:noFill/>
          <a:ln w="19050">
            <a:solidFill>
              <a:srgbClr val="F0C6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1234440"/>
            <a:ext cx="1280160" cy="2011680"/>
          </a:xfrm>
          <a:prstGeom prst="rect">
            <a:avLst/>
          </a:prstGeom>
          <a:solidFill>
            <a:srgbClr val="111827"/>
          </a:solidFill>
          <a:ln w="19050">
            <a:solidFill>
              <a:srgbClr val="7C5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27848" y="1344168"/>
            <a:ext cx="512064" cy="512064"/>
          </a:xfrm>
          <a:prstGeom prst="ellipse">
            <a:avLst/>
          </a:prstGeom>
          <a:solidFill>
            <a:srgbClr val="7C5BF0"/>
          </a:solidFill>
          <a:ln/>
        </p:spPr>
      </p:sp>
      <p:sp>
        <p:nvSpPr>
          <p:cNvPr id="37" name="Text 35"/>
          <p:cNvSpPr/>
          <p:nvPr/>
        </p:nvSpPr>
        <p:spPr>
          <a:xfrm>
            <a:off x="7927848" y="1344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589520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PDF + 이메일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89520" y="240487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jsPDF 생성 후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CA3AF"/>
                </a:solidFill>
              </a:rPr>
              <a:t>GmailApp 발송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3474720"/>
            <a:ext cx="8503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6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3584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FF"/>
                </a:solidFill>
              </a:rPr>
              <a:t>토스페이먼츠 지원 결제 수단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3977640"/>
            <a:ext cx="1261872" cy="640080"/>
          </a:xfrm>
          <a:prstGeom prst="rect">
            <a:avLst/>
          </a:prstGeom>
          <a:solidFill>
            <a:srgbClr val="1A1F35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신용/체크카드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20240" y="3977640"/>
            <a:ext cx="1261872" cy="640080"/>
          </a:xfrm>
          <a:prstGeom prst="rect">
            <a:avLst/>
          </a:prstGeom>
          <a:solidFill>
            <a:srgbClr val="1A1F35"/>
          </a:solidFill>
          <a:ln w="12700">
            <a:solidFill>
              <a:srgbClr val="F7E6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0240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카카오페이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37560" y="3977640"/>
            <a:ext cx="1261872" cy="640080"/>
          </a:xfrm>
          <a:prstGeom prst="rect">
            <a:avLst/>
          </a:prstGeom>
          <a:solidFill>
            <a:srgbClr val="1A1F35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네이버페이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977640"/>
            <a:ext cx="1261872" cy="640080"/>
          </a:xfrm>
          <a:prstGeom prst="rect">
            <a:avLst/>
          </a:prstGeom>
          <a:solidFill>
            <a:srgbClr val="1A1F35"/>
          </a:solidFill>
          <a:ln w="12700">
            <a:solidFill>
              <a:srgbClr val="006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토스페이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72200" y="3977640"/>
            <a:ext cx="1261872" cy="640080"/>
          </a:xfrm>
          <a:prstGeom prst="rect">
            <a:avLst/>
          </a:prstGeom>
          <a:solidFill>
            <a:srgbClr val="1A1F35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계좌이체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89520" y="3977640"/>
            <a:ext cx="1261872" cy="640080"/>
          </a:xfrm>
          <a:prstGeom prst="rect">
            <a:avLst/>
          </a:prstGeom>
          <a:solidFill>
            <a:srgbClr val="1A1F35"/>
          </a:solidFill>
          <a:ln w="12700">
            <a:solidFill>
              <a:srgbClr val="7C5B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39776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휴대폰결제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 &amp; 보안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6576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5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674"/>
                </a:solidFill>
              </a:rPr>
              <a:t>기술 스택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777240" cy="320040"/>
          </a:xfrm>
          <a:prstGeom prst="rect">
            <a:avLst/>
          </a:prstGeom>
          <a:solidFill>
            <a:srgbClr val="2D8C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190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Frontend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53312" y="1719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HTML5 모놀리식 (8,000줄+) · 4개국어 지원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221992"/>
            <a:ext cx="777240" cy="32004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Backend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2221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Google Apps Script v7.6 · Google Sheets DB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724912"/>
            <a:ext cx="777240" cy="32004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249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Payment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53312" y="2724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토스페이먼츠 Widget API v2 · GAS confirmPayment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227832"/>
            <a:ext cx="777240" cy="320040"/>
          </a:xfrm>
          <a:prstGeom prst="rect">
            <a:avLst/>
          </a:prstGeom>
          <a:solidFill>
            <a:srgbClr val="7C5BF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278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PDF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53312" y="32278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jsPDF 클라이언트 생성 · CJK 폰트 4개국어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730752"/>
            <a:ext cx="777240" cy="320040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7307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Email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53312" y="3730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GmailApp sendEmail · HTML 템플릿 이메일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4233672"/>
            <a:ext cx="777240" cy="32004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336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E1A"/>
                </a:solidFill>
              </a:rPr>
              <a:t>CDN/Hosting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53312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Gabia 호스팅 · Cloudflare CDN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143000"/>
            <a:ext cx="4206240" cy="36576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5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674"/>
                </a:solidFill>
              </a:rPr>
              <a:t>보안 &amp; 규제 준수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1764792"/>
            <a:ext cx="54864" cy="22860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719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PCI-DSS 준수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975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카드 정보 미보관 — 토스페이먼츠 서버 처리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267712"/>
            <a:ext cx="54864" cy="228600"/>
          </a:xfrm>
          <a:prstGeom prst="rect">
            <a:avLst/>
          </a:prstGeom>
          <a:solidFill>
            <a:srgbClr val="2D8C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221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HTTPS/TLS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2478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Cloudflare SSL 전구간 암호화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770632"/>
            <a:ext cx="54864" cy="228600"/>
          </a:xfrm>
          <a:prstGeom prst="rect">
            <a:avLst/>
          </a:prstGeom>
          <a:solidFill>
            <a:srgbClr val="7C5BF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724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한국 AI 기본법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XAI 필수 — 분석 근거 + 면책 고지 탑재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3273552"/>
            <a:ext cx="54864" cy="228600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227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개인정보보호법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3483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분석 완료 후 이메일 최소 수집 원칙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776472"/>
            <a:ext cx="54864" cy="22860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730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통신판매업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986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2026.02 신고 완료 (등록면허세 납부)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4279392"/>
            <a:ext cx="54864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4233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중복결제 방지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4489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isDuplicateOrder() 주문번호 검증 로직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검증 &amp; 알고리즘 실적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731520"/>
          </a:xfrm>
          <a:prstGeom prst="rect">
            <a:avLst/>
          </a:prstGeom>
          <a:solidFill>
            <a:srgbClr val="1A1F35"/>
          </a:solidFill>
          <a:ln w="19050">
            <a:solidFill>
              <a:srgbClr val="F0C6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674"/>
                </a:solidFill>
              </a:rPr>
              <a:t>510명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실제 데이터 기반 검증 완료  |  카드데이터 454 + 정성 44 + 기존 12  |  2025.09 ~ 2026.02 (6개월)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1168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2D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Bayesian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Inference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</a:rPr>
              <a:t>0.50→0.95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</a:rPr>
              <a:t>수렴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2011680"/>
            <a:ext cx="201168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ROC Threshold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Calibration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</a:rPr>
              <a:t>12회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</a:rPr>
              <a:t>보정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201168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7C5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5B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0916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Unsupervised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Clustering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</a:rPr>
              <a:t>8개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</a:rPr>
              <a:t>클러스터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2011680"/>
            <a:ext cx="201168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F0C6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C6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58000" y="2633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Neural CDE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Deep Learning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</a:rPr>
              <a:t>Phase 0→3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CA3AF"/>
                </a:solidFill>
              </a:rPr>
              <a:t>복원력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41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674"/>
                </a:solidFill>
              </a:rPr>
              <a:t>행동 예측 정확도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4069080"/>
            <a:ext cx="1143000" cy="594360"/>
          </a:xfrm>
          <a:prstGeom prst="rect">
            <a:avLst/>
          </a:prstGeom>
          <a:solidFill>
            <a:srgbClr val="1A1F35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087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CFF"/>
                </a:solidFill>
              </a:rPr>
              <a:t>73%+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60320" y="44074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식사 패턴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22192" y="4069080"/>
            <a:ext cx="1143000" cy="594360"/>
          </a:xfrm>
          <a:prstGeom prst="rect">
            <a:avLst/>
          </a:prstGeom>
          <a:solidFill>
            <a:srgbClr val="1A1F35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4087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CFF"/>
                </a:solidFill>
              </a:rPr>
              <a:t>88%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22192" y="44074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식욕 유형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84064" y="4069080"/>
            <a:ext cx="1143000" cy="594360"/>
          </a:xfrm>
          <a:prstGeom prst="rect">
            <a:avLst/>
          </a:prstGeom>
          <a:solidFill>
            <a:srgbClr val="1A1F35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4087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CFF"/>
                </a:solidFill>
              </a:rPr>
              <a:t>91%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84064" y="44074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소화 패턴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45936" y="4069080"/>
            <a:ext cx="1143000" cy="594360"/>
          </a:xfrm>
          <a:prstGeom prst="rect">
            <a:avLst/>
          </a:prstGeom>
          <a:solidFill>
            <a:srgbClr val="1A1F35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5936" y="4087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CFF"/>
                </a:solidFill>
              </a:rPr>
              <a:t>도출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45936" y="44074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5개 행동 법칙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607808" y="4069080"/>
            <a:ext cx="1143000" cy="594360"/>
          </a:xfrm>
          <a:prstGeom prst="rect">
            <a:avLst/>
          </a:prstGeom>
          <a:solidFill>
            <a:srgbClr val="1A1F35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07808" y="4087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8CFF"/>
                </a:solidFill>
              </a:rPr>
              <a:t>52→74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07808" y="44074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N-Score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결제 연동 요청 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840480" cy="457200"/>
          </a:xfrm>
          <a:prstGeom prst="rect">
            <a:avLst/>
          </a:prstGeom>
          <a:solidFill>
            <a:srgbClr val="00D68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✅  현재 구현 완료 상태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토스페이먼츠 Widget v2 연동 완료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test_ck / test_sk 키 세팅 완료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카드·카카오페이·네이버페이·토스페이·계좌이체·휴대폰 전 수단 지원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confirmTossPayment() GAS 서버 함수 완성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결제 승인 → PDF 생성 → 이메일 발송 파이프라인 완성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730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중복결제 방지 로직 (isDuplicateOrder) 적용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41330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68F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결제기록 Google Sheets 자동 저장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143000"/>
            <a:ext cx="4206240" cy="34747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6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143000"/>
            <a:ext cx="4206240" cy="457200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🔵  토스페이먼츠 검토 요청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737360"/>
            <a:ext cx="457200" cy="384048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9512" y="1737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키 발급 승인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39512" y="19385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test_sk → live_sk 전환 (코드 1줄 교체)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304288"/>
            <a:ext cx="457200" cy="384048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3042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9512" y="23042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정기결제 검토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9512" y="25054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Pro/VIP 구독 전환 시 필요 (Phase 2)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871216"/>
            <a:ext cx="457200" cy="384048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871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9512" y="28712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에스크로 면제 확인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9512" y="30723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디지털 상품(PDF·분석 리포트) 해당 여부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3438144"/>
            <a:ext cx="457200" cy="384048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4381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9512" y="34381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웹훅(Webhook) 안정성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9512" y="36393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결제 완료 → GAS 콜백 신뢰성 확인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4005072"/>
            <a:ext cx="457200" cy="384048"/>
          </a:xfrm>
          <a:prstGeom prst="rect">
            <a:avLst/>
          </a:prstGeom>
          <a:solidFill>
            <a:srgbClr val="0064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4005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9512" y="4005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사업자 등록 확인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9512" y="4206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통신판매업 2026.02 완료, 사업자 172-87-03400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solidFill>
            <a:srgbClr val="1A1F35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현재 테스트키: test_ck_E92LAa5PVbv5MnQMJDdZV7YmpXyJ  /  test_sk_XZYkKL4MrjqaNnPRWEORV0zJwlEW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6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로드맵 &amp; 연락처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532888"/>
            <a:ext cx="8229600" cy="0"/>
          </a:xfrm>
          <a:prstGeom prst="line">
            <a:avLst/>
          </a:prstGeom>
          <a:noFill/>
          <a:ln w="19050">
            <a:solidFill>
              <a:srgbClr val="2D35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2331720"/>
            <a:ext cx="402336" cy="402336"/>
          </a:xfrm>
          <a:prstGeom prst="ellipse">
            <a:avLst/>
          </a:prstGeom>
          <a:solidFill>
            <a:srgbClr val="00D68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005840"/>
            <a:ext cx="274320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6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2026. 03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수익화 런칭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274320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52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통신판매업 완료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284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live키 교체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039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Standard ₩9,900 판매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2331720"/>
            <a:ext cx="402336" cy="402336"/>
          </a:xfrm>
          <a:prstGeom prst="ellipse">
            <a:avLst/>
          </a:prstGeom>
          <a:solidFill>
            <a:srgbClr val="2D8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1005840"/>
            <a:ext cx="274320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2D8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2026. 04~05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 전환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74320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852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MyData API 연동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3284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행동데이터 40% 진입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8039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CFF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 ₩19,900 출시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51192" y="2331720"/>
            <a:ext cx="402336" cy="402336"/>
          </a:xfrm>
          <a:prstGeom prst="ellipse">
            <a:avLst/>
          </a:prstGeom>
          <a:solidFill>
            <a:srgbClr val="7C5B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1005840"/>
            <a:ext cx="274320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7C5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1051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F0"/>
                </a:solidFill>
              </a:rPr>
              <a:t>Phase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2026. 하반기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집단지성 생태계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80760" y="2788920"/>
            <a:ext cx="274320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852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F0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음성 AI 대화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32841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F0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VIP ₩49,900 출시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8039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5BF0"/>
                </a:solidFill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구독 정기결제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526280"/>
            <a:ext cx="841248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F0C6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674"/>
                </a:solidFill>
              </a:rPr>
              <a:t>뉴린카이로스에이아이(주)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대표이사 이원재  |  </a:t>
            </a:r>
            <a:pPr indent="0" marL="0">
              <a:buNone/>
            </a:pPr>
            <a:r>
              <a:rPr lang="en-US" sz="1000" dirty="0">
                <a:solidFill>
                  <a:srgbClr val="5AA8FF"/>
                </a:solidFill>
              </a:rPr>
              <a:t>cpo@neurinkairosai.com  |  </a:t>
            </a:r>
            <a:pPr indent="0" marL="0">
              <a:buNone/>
            </a:pPr>
            <a:r>
              <a:rPr lang="en-US" sz="1000" dirty="0">
                <a:solidFill>
                  <a:srgbClr val="5AA8FF"/>
                </a:solidFill>
              </a:rPr>
              <a:t>neurinkairosai.com  |  </a:t>
            </a:r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사업자: 172-87-03400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N-KAI 토스페이먼츠 결제 연동 제안서</dc:title>
  <dc:subject>PptxGenJS Presentation</dc:subject>
  <dc:creator>뉴린카이로스에이아이(주)</dc:creator>
  <cp:lastModifiedBy>뉴린카이로스에이아이(주)</cp:lastModifiedBy>
  <cp:revision>1</cp:revision>
  <dcterms:created xsi:type="dcterms:W3CDTF">2026-03-04T19:30:56Z</dcterms:created>
  <dcterms:modified xsi:type="dcterms:W3CDTF">2026-03-04T19:30:56Z</dcterms:modified>
</cp:coreProperties>
</file>