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54864" cy="5943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N-Kai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Profile™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 예측 AI 플랫폼  ·  IR 피치덱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530352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0690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행동이 쌓이면 예측이 되고,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46227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예측이 쌓이면 인생이 됩니다.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0" y="1645920"/>
            <a:ext cx="3319272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4건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595360" y="2176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출원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0" y="2743200"/>
            <a:ext cx="3319272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6개월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595360" y="3273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데이터 수집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0" y="3840480"/>
            <a:ext cx="3319272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97.3%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595360" y="4370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NRA 내러티브 복원율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12480" y="4937760"/>
            <a:ext cx="3319272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5029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20년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595360" y="5468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 FDS 실무 경력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62179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Neurin Kairos AI Inc.  ·  뉴린카이로스에이아이(주)  ·  2026.03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286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3444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문제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사람의 행동엔 패턴이 있습니다.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근데 아무도 60분 전에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알려주지 않았습니다.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6344" y="109728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6344" y="109728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9224" y="123444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솔루션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59224" y="169164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한 장, 배달 한 건이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행동을 예측합니다.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4건으로 설계한 Living Profile™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5488" y="109728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5488" y="109728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8368" y="123444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시장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8368" y="169164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멘탈헬스 600조 + AI개인화 400조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교차점, 아직 아무도 없습니다.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AI기본법 2026 — 타이밍 지금입니다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65760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9476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 경쟁우위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25196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롯데카드 20년 · DB TM 3년 70억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FDS 3년반 → 행동예측 AI 전환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4건 + 상표 3건 방어선 완성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76344" y="365760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76344" y="365760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9224" y="379476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Ask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59224" y="425196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엔젤·시드 투자자 연결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기술자문 계약 500~1,000만원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파트너십 (금융·헬스케어)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95488" y="365760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95488" y="365760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8368" y="379476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PoC 결과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78368" y="425196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N-Score 52→78, 50% 상승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내러티브 복원율(NRA) 97.3%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D90 PoC 완료·510건·행동법칙 11개 발견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PHILOSOPHY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인생은 세 번입니다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8288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605784" cy="438912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태어나다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999232"/>
            <a:ext cx="9144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00400"/>
            <a:ext cx="31485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내가 고른 것이 아닌 것들.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기질, DNA, 자란 환경.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그것이 나의 출발선이고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N-Kai의 첫 번째 좌표입니다.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5212080"/>
            <a:ext cx="3148584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257800"/>
            <a:ext cx="3011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 : 당신이 가진 것부터 읽습니다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1584" y="1554480"/>
            <a:ext cx="3605784" cy="4389120"/>
          </a:xfrm>
          <a:prstGeom prst="rect">
            <a:avLst/>
          </a:prstGeom>
          <a:solidFill>
            <a:srgbClr val="1A223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0184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0184" y="210312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20184" y="265176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살아가다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20184" y="2999232"/>
            <a:ext cx="9144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0184" y="3200400"/>
            <a:ext cx="31485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살면서 쌓이는 선택들.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어제의 패턴이 오늘을 만들고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오늘이 내일을 만듭니다.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N-Kai는 60분 먼저 압니다.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0184" y="5212080"/>
            <a:ext cx="3148584" cy="347472"/>
          </a:xfrm>
          <a:prstGeom prst="rect">
            <a:avLst/>
          </a:prstGeom>
          <a:solidFill>
            <a:srgbClr val="0F2A1A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1624" y="5257800"/>
            <a:ext cx="3011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 : 60분 전, 이미 알고 있습니다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25968" y="1554480"/>
            <a:ext cx="3605784" cy="438912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5456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54568" y="210312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354568" y="265176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남기다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54568" y="2999232"/>
            <a:ext cx="9144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54568" y="3200400"/>
            <a:ext cx="31485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내가 없어도 남는 것.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살아온 방식, 선택의 흔적.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데이터가 다음 사람의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내비게이션이 됩니다.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54568" y="5212080"/>
            <a:ext cx="3148584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46008" y="5257800"/>
            <a:ext cx="3011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 : 삶을 흘려보내지 않습니다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특허 4건 — 기술 방어선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286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81478" cy="4983480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2681478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81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1618488"/>
            <a:ext cx="1949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엔진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동적 진화형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카이로스 페르소나 엔진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79192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Evolving Kairos Persona Engine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3044952"/>
            <a:ext cx="2315718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00400"/>
            <a:ext cx="2361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태어난 기질(사주)과 살면서 쌓인 성향을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함께 읽어 16형 DNA를 만듭니다.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이게 Living Profile의 시작입니다.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4416552"/>
            <a:ext cx="2452878" cy="27432"/>
          </a:xfrm>
          <a:prstGeom prst="rect">
            <a:avLst/>
          </a:prstGeom>
          <a:solidFill>
            <a:srgbClr val="F8F9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480560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알고리즘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4709160"/>
            <a:ext cx="23614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베이지안 추론 (동적 갱신)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ROC 임계치 보정 (T-60 경보)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비지도학습 군집화 (4그룹 × 16아키타입)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딥러닝 포괄 적용 (자율진화 학습)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6035040"/>
            <a:ext cx="2452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특허-2025-0156080 (심사청구 완료)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21558" y="1417320"/>
            <a:ext cx="2681478" cy="4983480"/>
          </a:xfrm>
          <a:prstGeom prst="rect">
            <a:avLst/>
          </a:prstGeom>
          <a:solidFill>
            <a:srgbClr val="111827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21558" y="1417320"/>
            <a:ext cx="268147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04438" y="1581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915918" y="1618488"/>
            <a:ext cx="1949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 엔진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04438" y="2011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심층 기질 분석 기반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관계 매칭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04438" y="2679192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Relationship Matching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504438" y="3044952"/>
            <a:ext cx="2315718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4438" y="3200400"/>
            <a:ext cx="2361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유형끼리 왜 충돌하는지,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유형이 왜 잘 맞는지를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데이터로 보여줍니다.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58718" y="4416552"/>
            <a:ext cx="2452878" cy="27432"/>
          </a:xfrm>
          <a:prstGeom prst="rect">
            <a:avLst/>
          </a:prstGeom>
          <a:solidFill>
            <a:srgbClr val="F8F9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4438" y="4480560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알고리즘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04438" y="4709160"/>
            <a:ext cx="23614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아키타입 벡터 유사도 분석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기질 충돌/공명 지수 산출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관계 적합도 스코어링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군집 기반 매칭 최적화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58718" y="6035040"/>
            <a:ext cx="2452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특허-2025-0156081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85916" y="1417320"/>
            <a:ext cx="2681478" cy="4983480"/>
          </a:xfrm>
          <a:prstGeom prst="rect">
            <a:avLst/>
          </a:prstGeom>
          <a:solidFill>
            <a:srgbClr val="111827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5916" y="1417320"/>
            <a:ext cx="2681478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8796" y="1581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80276" y="1618488"/>
            <a:ext cx="1949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웰니스 엔진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68796" y="2011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아키타입 분석 기반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맞춤형 웰니스 추천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68796" y="2679192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Wellness Recommendation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368796" y="3044952"/>
            <a:ext cx="2315718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8796" y="3200400"/>
            <a:ext cx="2361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9개 축으로 지금 내 상태를 읽고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사람에게 맞는 루틴을 제안합니다.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남의 방법을 따라하지 않아도 됩니다.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23076" y="4416552"/>
            <a:ext cx="2452878" cy="27432"/>
          </a:xfrm>
          <a:prstGeom prst="rect">
            <a:avLst/>
          </a:prstGeom>
          <a:solidFill>
            <a:srgbClr val="F8F9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8796" y="4480560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알고리즘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68796" y="4709160"/>
            <a:ext cx="23614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9축 웰니스 상태벡터 h(t) 갱신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개인화 추천 모델 학습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행동 패턴 이탈 탐지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N-Score 실시간 산출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23076" y="6035040"/>
            <a:ext cx="2452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특허-2025-0156082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050274" y="1417320"/>
            <a:ext cx="2681478" cy="4983480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50274" y="1417320"/>
            <a:ext cx="268147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33154" y="1581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644634" y="1618488"/>
            <a:ext cx="1949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엔진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233154" y="2011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다차원 변수 분석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피드백 학습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233154" y="2679192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Multidimensional AI Feedback Learning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233154" y="3044952"/>
            <a:ext cx="2315718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33154" y="3200400"/>
            <a:ext cx="2361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쓸수록 나에게 더 맞아갑니다.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어제 틀렸다면 오늘은 더 정확해집니다.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타이밍까지 추천하는 이유입니다.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187434" y="4416552"/>
            <a:ext cx="2452878" cy="27432"/>
          </a:xfrm>
          <a:prstGeom prst="rect">
            <a:avLst/>
          </a:prstGeom>
          <a:solidFill>
            <a:srgbClr val="F8F9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33154" y="4480560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알고리즘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233154" y="4709160"/>
            <a:ext cx="23614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다차원 변수 가중 융합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AI 피드백 학습 루프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개인화 예측 모델 진화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딥러닝 신경망 포괄 적용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187434" y="6035040"/>
            <a:ext cx="2452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특허-2025-0156083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법이 시장을 만들었습니다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3636264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78992"/>
            <a:ext cx="3636264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AI기본법 2026.01 시행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316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한국, 세계 최초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1856232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투명성 확보 의무(§31) — 설명 가능 AI 필수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18541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안전성 확보 의무(§32) — 위험도 평가 필수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14600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고영향 AI 규제(§33~35) — 프라이버시 금지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843784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2027년~ 과태료 3,000만 · 영업정지 가능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76344" y="1078992"/>
            <a:ext cx="3636264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76344" y="1078992"/>
            <a:ext cx="3636264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9224" y="1188720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 시장 규모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59224" y="1554480"/>
            <a:ext cx="3316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선점자 우위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59224" y="1828800"/>
            <a:ext cx="3316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1,000조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459224" y="2404872"/>
            <a:ext cx="3316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멘탈헬스 시장 600조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59224" y="2606040"/>
            <a:ext cx="3316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개인화 시장 400조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59224" y="2807208"/>
            <a:ext cx="3316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기업 98% 대응체계 미비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59224" y="3008376"/>
            <a:ext cx="3316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교차점에 경쟁자 없음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95488" y="1078992"/>
            <a:ext cx="3636264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95488" y="1078992"/>
            <a:ext cx="3636264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8368" y="1188720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선례: 법이 유니콘을 만든다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78368" y="1554480"/>
            <a:ext cx="3316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규제 → 필수화 패턴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78368" y="1856232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GDPR → OneTrust 유니콘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78368" y="218541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SOX법 → 컴플라이언스 SaaS 수조원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78368" y="2514600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PCI-DSS → FDS 시장 창출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78368" y="2843784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AI기본법 → N-Kai 포지션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502152"/>
            <a:ext cx="5545836" cy="1783080"/>
          </a:xfrm>
          <a:prstGeom prst="rect">
            <a:avLst/>
          </a:prstGeom>
          <a:solidFill>
            <a:srgbClr val="FFF8E7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639312"/>
            <a:ext cx="522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타이밍: 지금이 골든윈도우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4069080"/>
            <a:ext cx="5225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AI기본법 시행 → 기업 적응 기간 12~24개월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4건 선출원 완료 — 후발주자 진입 장벽 완성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롯데카드 LOI 협의 중 — 금융권 실증 기회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85916" y="3502152"/>
            <a:ext cx="5545836" cy="1783080"/>
          </a:xfrm>
          <a:prstGeom prst="rect">
            <a:avLst/>
          </a:prstGeom>
          <a:solidFill>
            <a:srgbClr val="F0FDF4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8796" y="3639312"/>
            <a:ext cx="522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🌏  글로벌 확장성: 아시아 8개국 로드맵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68796" y="4069080"/>
            <a:ext cx="5225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PoC → 일본 미니엔진(2026 Q4) → 홍콩·싱가폴 B2B(2027 Q2)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3개국 미은행 인구 3~4억명 · 중국 八字 AI 붐 · 아시아 8개국 순차 확장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동일 엔진 · 시장별 현지화 — 수직 확장 무제한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N-Kai는 앱이 아닙니다. SDK입니다.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303520" cy="2286000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B2B 수익 구조 — 2-Track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엔진 라이선스 월정액 — N-KAI 엔진 사용권 구독료 (가정치 협의 중)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API 호출당 ₩20 고정과금 — 거래 1건 = 1 call = ₩20 (가정치, 협의 후 확정)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7004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PSP 거래 수수료(거래금액×%) 모델과 완전히 다름. 거래금액 무관.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카드사 앱 탑재 → 보이스피싱 차단 엔진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헬스케어 앱 탑재 → 번아웃 경보 시스템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금융사 탑재 → 행동 기반 신용평가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417320"/>
            <a:ext cx="1807464" cy="2286000"/>
          </a:xfrm>
          <a:prstGeom prst="rect">
            <a:avLst/>
          </a:prstGeom>
          <a:solidFill>
            <a:srgbClr val="111827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572768"/>
            <a:ext cx="1578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1901952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₩300만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80760" y="2414016"/>
            <a:ext cx="1578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 가정치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80760" y="2651760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중소 핀테크 10사</a:t>
            </a:r>
            <a:endParaRPr lang="en-US" sz="8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시장침투 목표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933944" y="1417320"/>
            <a:ext cx="1807464" cy="2286000"/>
          </a:xfrm>
          <a:prstGeom prst="rect">
            <a:avLst/>
          </a:prstGeom>
          <a:solidFill>
            <a:srgbClr val="111827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71104" y="1572768"/>
            <a:ext cx="1578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71104" y="1901952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₩1,000만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71104" y="2414016"/>
            <a:ext cx="1578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 가정치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71104" y="2651760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TOP금융사 3사</a:t>
            </a:r>
            <a:endParaRPr lang="en-US" sz="8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롯데·신한·삼성생명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924288" y="1417320"/>
            <a:ext cx="1807464" cy="2286000"/>
          </a:xfrm>
          <a:prstGeom prst="rect">
            <a:avLst/>
          </a:prstGeom>
          <a:solidFill>
            <a:srgbClr val="111827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61448" y="1572768"/>
            <a:ext cx="1578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61448" y="1901952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협의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61448" y="2414016"/>
            <a:ext cx="1578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 1사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061448" y="2651760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은행지주·일본파트너</a:t>
            </a:r>
            <a:endParaRPr lang="en-US" sz="8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계약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3886200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13716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434840"/>
            <a:ext cx="2681478" cy="201168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434840"/>
            <a:ext cx="2681478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57200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4864608"/>
            <a:ext cx="2452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516636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 체결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기술자문 계약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롯데카드 PoC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21558" y="4434840"/>
            <a:ext cx="2681478" cy="201168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21558" y="4434840"/>
            <a:ext cx="2681478" cy="54864"/>
          </a:xfrm>
          <a:prstGeom prst="rect">
            <a:avLst/>
          </a:prstGeom>
          <a:solidFill>
            <a:srgbClr val="8B7227"/>
          </a:solidFill>
          <a:ln w="12700">
            <a:solidFill>
              <a:srgbClr val="8B72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8718" y="457200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58718" y="4864608"/>
            <a:ext cx="2452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58718" y="516636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SDK 출시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KISA 과제 참여 추진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보이스피싱 예측 레이어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85916" y="4434840"/>
            <a:ext cx="2681478" cy="201168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85916" y="4434840"/>
            <a:ext cx="2681478" cy="54864"/>
          </a:xfrm>
          <a:prstGeom prst="rect">
            <a:avLst/>
          </a:prstGeom>
          <a:solidFill>
            <a:srgbClr val="8B7227"/>
          </a:solidFill>
          <a:ln w="12700">
            <a:solidFill>
              <a:srgbClr val="8B722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3076" y="457200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23076" y="4864608"/>
            <a:ext cx="2452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23076" y="516636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시드 라운드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빌딩 3명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5호 출원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050274" y="4434840"/>
            <a:ext cx="2681478" cy="201168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50274" y="4434840"/>
            <a:ext cx="2681478" cy="54864"/>
          </a:xfrm>
          <a:prstGeom prst="rect">
            <a:avLst/>
          </a:prstGeom>
          <a:solidFill>
            <a:srgbClr val="8B7227"/>
          </a:solidFill>
          <a:ln w="12700">
            <a:solidFill>
              <a:srgbClr val="8B722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87434" y="457200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187434" y="4864608"/>
            <a:ext cx="2452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Q1+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187434" y="516636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미니엔진 MVP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HK·SG B2B 접촉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준비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6개월 자가 실증 데이터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2695194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2695194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23751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6개월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 기간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237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2025.09.11 법인설립~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16986" y="1143000"/>
            <a:ext cx="2695194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6986" y="1143000"/>
            <a:ext cx="2695194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9866" y="1280160"/>
            <a:ext cx="23751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78점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499866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N-Score (최종)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99866" y="2148840"/>
            <a:ext cx="237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 52점 → +50%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6772" y="1143000"/>
            <a:ext cx="2695194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6772" y="1143000"/>
            <a:ext cx="269519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9652" y="1280160"/>
            <a:ext cx="23751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97.3%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359652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NRA 복원율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9652" y="2148840"/>
            <a:ext cx="237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내러티브 복원 일관성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36558" y="1143000"/>
            <a:ext cx="2695194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36558" y="1143000"/>
            <a:ext cx="2695194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19438" y="1280160"/>
            <a:ext cx="23751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510건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9219438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거래 분석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19438" y="2148840"/>
            <a:ext cx="237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 패턴 원천 데이터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606040"/>
            <a:ext cx="5545836" cy="20574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606040"/>
            <a:ext cx="5545836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715768"/>
            <a:ext cx="522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4대 알고리즘 검증 결과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" y="3154680"/>
            <a:ext cx="5225796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2095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베이지안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23160" y="32095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22회 갱신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0" y="3209544"/>
            <a:ext cx="1705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사후확률 0.99+ 달성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" y="3529584"/>
            <a:ext cx="5225796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5844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 임계치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23160" y="35844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 초과 22회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0" y="3584448"/>
            <a:ext cx="1705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T-60 경고 전원 적중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" y="3904488"/>
            <a:ext cx="5225796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39593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비지도학습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23160" y="39593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클러스터 C8~C12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0" y="3959352"/>
            <a:ext cx="1705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5극 DNA 완전 분화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1792" y="4279392"/>
            <a:ext cx="5225796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3342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 엔진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423160" y="43342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 궤적 완성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0" y="4334256"/>
            <a:ext cx="1705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N-Score 드리프트 포착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85916" y="2606040"/>
            <a:ext cx="5545836" cy="20574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85916" y="2606040"/>
            <a:ext cx="5545836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8796" y="2715768"/>
            <a:ext cx="5225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6개월간 발견된 행동법칙 11개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368796" y="3054096"/>
            <a:ext cx="5225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좌: 식품·소비 행동 6건   /   우: 시간·패턴 행동 5건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323076" y="3273552"/>
            <a:ext cx="2498598" cy="242316"/>
          </a:xfrm>
          <a:prstGeom prst="rect">
            <a:avLst/>
          </a:prstGeom>
          <a:solidFill>
            <a:srgbClr val="F0F9FF"/>
          </a:solidFill>
          <a:ln w="3810">
            <a:solidFill>
              <a:srgbClr val="E0F2F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23076" y="3273552"/>
            <a:ext cx="36576" cy="242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4516" y="3310128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크레이빙 3일 포화 — 3일 연속 동일 메뉴 후 전환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323076" y="3534156"/>
            <a:ext cx="2498598" cy="242316"/>
          </a:xfrm>
          <a:prstGeom prst="rect">
            <a:avLst/>
          </a:prstGeom>
          <a:solidFill>
            <a:srgbClr val="F8FAFC"/>
          </a:solidFill>
          <a:ln w="3810">
            <a:solidFill>
              <a:srgbClr val="E0F2F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23076" y="3534156"/>
            <a:ext cx="36576" cy="242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14516" y="3570732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충족 의도 — 카테고리 크로스오버 패턴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323076" y="3794760"/>
            <a:ext cx="2498598" cy="242316"/>
          </a:xfrm>
          <a:prstGeom prst="rect">
            <a:avLst/>
          </a:prstGeom>
          <a:solidFill>
            <a:srgbClr val="F0F9FF"/>
          </a:solidFill>
          <a:ln w="3810">
            <a:solidFill>
              <a:srgbClr val="E0F2F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23076" y="3794760"/>
            <a:ext cx="36576" cy="242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14516" y="3831336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3분 자기교정 — ROC 경고 후 3분 내 수정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323076" y="4055364"/>
            <a:ext cx="2498598" cy="242316"/>
          </a:xfrm>
          <a:prstGeom prst="rect">
            <a:avLst/>
          </a:prstGeom>
          <a:solidFill>
            <a:srgbClr val="F8FAFC"/>
          </a:solidFill>
          <a:ln w="3810">
            <a:solidFill>
              <a:srgbClr val="E0F2F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23076" y="4055364"/>
            <a:ext cx="36576" cy="242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14516" y="4091940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음주 복귀 — 금주 후 재음주 시 클러스터 이동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323076" y="4315968"/>
            <a:ext cx="2498598" cy="242316"/>
          </a:xfrm>
          <a:prstGeom prst="rect">
            <a:avLst/>
          </a:prstGeom>
          <a:solidFill>
            <a:srgbClr val="F0F9FF"/>
          </a:solidFill>
          <a:ln w="3810">
            <a:solidFill>
              <a:srgbClr val="E0F2F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23076" y="4315968"/>
            <a:ext cx="36576" cy="242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14516" y="4352544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유제품 보충 — 매운 식사 후 유제품 필수 보충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323076" y="4576572"/>
            <a:ext cx="2498598" cy="242316"/>
          </a:xfrm>
          <a:prstGeom prst="rect">
            <a:avLst/>
          </a:prstGeom>
          <a:solidFill>
            <a:srgbClr val="F8FAFC"/>
          </a:solidFill>
          <a:ln w="3810">
            <a:solidFill>
              <a:srgbClr val="E0F2F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23076" y="4576572"/>
            <a:ext cx="36576" cy="242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14516" y="4613148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무료식사 — 외식 빈도 40% 감소 패턴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913114" y="3273552"/>
            <a:ext cx="2498598" cy="242316"/>
          </a:xfrm>
          <a:prstGeom prst="rect">
            <a:avLst/>
          </a:prstGeom>
          <a:solidFill>
            <a:srgbClr val="FFF7ED"/>
          </a:solidFill>
          <a:ln w="3810">
            <a:solidFill>
              <a:srgbClr val="FED7A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913114" y="3273552"/>
            <a:ext cx="36576" cy="2423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04554" y="3310128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야간 과소비 — 22시 이후 충동구매 +67%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913114" y="3534156"/>
            <a:ext cx="2498598" cy="242316"/>
          </a:xfrm>
          <a:prstGeom prst="rect">
            <a:avLst/>
          </a:prstGeom>
          <a:solidFill>
            <a:srgbClr val="FFFBF5"/>
          </a:solidFill>
          <a:ln w="3810">
            <a:solidFill>
              <a:srgbClr val="FED7A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913114" y="3534156"/>
            <a:ext cx="36576" cy="2423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004554" y="3570732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주말 리셋 — 월요일이 주중 예측 기준점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913114" y="3794760"/>
            <a:ext cx="2498598" cy="242316"/>
          </a:xfrm>
          <a:prstGeom prst="rect">
            <a:avLst/>
          </a:prstGeom>
          <a:solidFill>
            <a:srgbClr val="FFF7ED"/>
          </a:solidFill>
          <a:ln w="3810">
            <a:solidFill>
              <a:srgbClr val="FED7A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913114" y="3794760"/>
            <a:ext cx="36576" cy="2423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004554" y="3831336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스트레스 대체 — 고단가 식사 후 구매욕 감소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8913114" y="4055364"/>
            <a:ext cx="2498598" cy="242316"/>
          </a:xfrm>
          <a:prstGeom prst="rect">
            <a:avLst/>
          </a:prstGeom>
          <a:solidFill>
            <a:srgbClr val="FFFBF5"/>
          </a:solidFill>
          <a:ln w="3810">
            <a:solidFill>
              <a:srgbClr val="FED7A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913114" y="4055364"/>
            <a:ext cx="36576" cy="2423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004554" y="4091940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커피 전환 — 아메리카노→라떼 = 에너지 저점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8913114" y="4315968"/>
            <a:ext cx="2498598" cy="242316"/>
          </a:xfrm>
          <a:prstGeom prst="rect">
            <a:avLst/>
          </a:prstGeom>
          <a:solidFill>
            <a:srgbClr val="FFF7ED"/>
          </a:solidFill>
          <a:ln w="3810">
            <a:solidFill>
              <a:srgbClr val="FED7A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13114" y="4315968"/>
            <a:ext cx="36576" cy="2423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004554" y="4352544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배달 단축 — 배달 빈도↑ 시 외출 의욕 저하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57200" y="4773168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업종별 MCC I/C 가중치 — 음수(-) 포함 전체 구조 (투자자·파트너 공개)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457200" y="5029200"/>
            <a:ext cx="902970" cy="65836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57200" y="5029200"/>
            <a:ext cx="90297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4632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의료·헬스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484632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2.00×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84632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건강투자 최고신호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1396746" y="5029200"/>
            <a:ext cx="902970" cy="65836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396746" y="5029200"/>
            <a:ext cx="90297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24178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보험·저축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1424178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1.80×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1424178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금융책임성 증명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2336292" y="5029200"/>
            <a:ext cx="902970" cy="65836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336292" y="5029200"/>
            <a:ext cx="90297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363724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스포츠·운동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2363724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1.50×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2363724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신체활동=미래의료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3275838" y="5029200"/>
            <a:ext cx="902970" cy="65836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275838" y="5029200"/>
            <a:ext cx="90297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303270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IT서비스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3303270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1.50×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3303270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생산성 행동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4215384" y="5029200"/>
            <a:ext cx="902970" cy="65836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15384" y="5029200"/>
            <a:ext cx="902970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242816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약국·드럭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4242816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1.45×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4242816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예방건강 투자층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5154930" y="5029200"/>
            <a:ext cx="90297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154930" y="5029200"/>
            <a:ext cx="90297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182362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식비·배달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5182362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1.40×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5182362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크레이빙 핵심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6094476" y="5029200"/>
            <a:ext cx="90297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094476" y="5029200"/>
            <a:ext cx="90297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121908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카페·음료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6121908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1.30×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6121908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루틴·에너지신호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7034022" y="5029200"/>
            <a:ext cx="902970" cy="65836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034022" y="5029200"/>
            <a:ext cx="90297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061454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현금서비스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7061454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-2.0×</a:t>
            </a:r>
            <a:endParaRPr lang="en-US" sz="1100" dirty="0"/>
          </a:p>
        </p:txBody>
      </p:sp>
      <p:sp>
        <p:nvSpPr>
          <p:cNvPr id="123" name="Text 121"/>
          <p:cNvSpPr/>
          <p:nvPr/>
        </p:nvSpPr>
        <p:spPr>
          <a:xfrm>
            <a:off x="7061454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재무위기 직접신호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7973568" y="5029200"/>
            <a:ext cx="902970" cy="65836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973568" y="5029200"/>
            <a:ext cx="90297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001000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카드론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8001000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-1.8×</a:t>
            </a:r>
            <a:endParaRPr lang="en-US" sz="1100" dirty="0"/>
          </a:p>
        </p:txBody>
      </p:sp>
      <p:sp>
        <p:nvSpPr>
          <p:cNvPr id="128" name="Text 126"/>
          <p:cNvSpPr/>
          <p:nvPr/>
        </p:nvSpPr>
        <p:spPr>
          <a:xfrm>
            <a:off x="8001000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단기대출 위험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8913114" y="5029200"/>
            <a:ext cx="902970" cy="65836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913114" y="5029200"/>
            <a:ext cx="90297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940546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리볼빙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8940546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-1.5×</a:t>
            </a:r>
            <a:endParaRPr lang="en-US" sz="1100" dirty="0"/>
          </a:p>
        </p:txBody>
      </p:sp>
      <p:sp>
        <p:nvSpPr>
          <p:cNvPr id="133" name="Text 131"/>
          <p:cNvSpPr/>
          <p:nvPr/>
        </p:nvSpPr>
        <p:spPr>
          <a:xfrm>
            <a:off x="8940546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과소비 패턴 지속</a:t>
            </a:r>
            <a:endParaRPr lang="en-US" sz="650" dirty="0"/>
          </a:p>
        </p:txBody>
      </p:sp>
      <p:sp>
        <p:nvSpPr>
          <p:cNvPr id="134" name="Shape 132"/>
          <p:cNvSpPr/>
          <p:nvPr/>
        </p:nvSpPr>
        <p:spPr>
          <a:xfrm>
            <a:off x="9852660" y="5029200"/>
            <a:ext cx="90297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852660" y="5029200"/>
            <a:ext cx="90297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880092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유흥·주점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9880092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0.55×</a:t>
            </a:r>
            <a:endParaRPr lang="en-US" sz="1100" dirty="0"/>
          </a:p>
        </p:txBody>
      </p:sp>
      <p:sp>
        <p:nvSpPr>
          <p:cNvPr id="138" name="Text 136"/>
          <p:cNvSpPr/>
          <p:nvPr/>
        </p:nvSpPr>
        <p:spPr>
          <a:xfrm>
            <a:off x="9880092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충동성 감점</a:t>
            </a:r>
            <a:endParaRPr lang="en-US" sz="650" dirty="0"/>
          </a:p>
        </p:txBody>
      </p:sp>
      <p:sp>
        <p:nvSpPr>
          <p:cNvPr id="139" name="Shape 137"/>
          <p:cNvSpPr/>
          <p:nvPr/>
        </p:nvSpPr>
        <p:spPr>
          <a:xfrm>
            <a:off x="10792206" y="5029200"/>
            <a:ext cx="90297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792206" y="5029200"/>
            <a:ext cx="90297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819638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10819638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0.80×</a:t>
            </a:r>
            <a:endParaRPr lang="en-US" sz="1100" dirty="0"/>
          </a:p>
        </p:txBody>
      </p:sp>
      <p:sp>
        <p:nvSpPr>
          <p:cNvPr id="143" name="Text 141"/>
          <p:cNvSpPr/>
          <p:nvPr/>
        </p:nvSpPr>
        <p:spPr>
          <a:xfrm>
            <a:off x="10819638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루틴 보조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457200" y="5724144"/>
            <a:ext cx="11274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설계 원칙: MCC = 지출 분류가 아닌 성격 진화 연료. 운동1.5×=신체활동→의료비대체, 약국1.45×=예방의학투자층. 음수(−)=재무위기 직접신호.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457200" y="5943600"/>
            <a:ext cx="11274552" cy="804672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57200" y="5943600"/>
            <a:ext cx="54864" cy="8046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85800" y="6099048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N-Kai는 '데이터를 쌓는 앱'이 아닙니다. 데이터를 읽어 당신의 다음 선택을 예측하는 엔진입니다.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IP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팀과 지식재산권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286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00" cy="3200400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32004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72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이원재  ·  Founder &amp; CEO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993392"/>
            <a:ext cx="18288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롯데카드 20년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223113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 · 채권 · 마케팅 · 라이프 신사업 · 할부금융 — 금융 全영역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2505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DB 타겟 세그먼트 &amp; TM 사업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27249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롯데카드 DB × 상조사 제휴 · 170명 상담사 운영 · O/B TM 판매건당 중개수수료 · 3년간 영업이익 70억 달성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299923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FDS 3년 반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32186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예측 본질 체득 → 행동 예측 AI로 전환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34930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폐암 수술(2022.09)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0120" y="371246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투병 중 직접 설계 → 2025.09 법인 창업. 현재 치료 중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40233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i="1" dirty="0">
                <a:solidFill>
                  <a:srgbClr val="F0D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"45년간 아무도 방향을 안 잡아줬기 때문에,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i="1" dirty="0">
                <a:solidFill>
                  <a:srgbClr val="F0D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직접 내비게이터를 만들기로 했습니다."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417320"/>
            <a:ext cx="129844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417320"/>
            <a:ext cx="1298448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572768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63640" y="2029968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카이로스 페르소나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63640" y="2606040"/>
            <a:ext cx="1069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출원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2025.10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10-2025-0156080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62088" y="1417320"/>
            <a:ext cx="129844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62088" y="1417320"/>
            <a:ext cx="1298448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99248" y="1572768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699248" y="2029968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관계 매칭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99248" y="2606040"/>
            <a:ext cx="1069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출원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2025.10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10-2025-0156081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997696" y="1417320"/>
            <a:ext cx="129844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97696" y="1417320"/>
            <a:ext cx="1298448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1572768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134856" y="2029968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웰니스 추천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134856" y="2606040"/>
            <a:ext cx="1069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출원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2025.10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10-2025-0156082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433304" y="1417320"/>
            <a:ext cx="129844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33304" y="1417320"/>
            <a:ext cx="1298448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70464" y="1572768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0570464" y="2029968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행운 숫자 추천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570464" y="2606040"/>
            <a:ext cx="1069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출원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2025.10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10-2025-0156083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754880"/>
            <a:ext cx="11274552" cy="804672"/>
          </a:xfrm>
          <a:prstGeom prst="rect">
            <a:avLst/>
          </a:prstGeom>
          <a:solidFill>
            <a:srgbClr val="0D1A0D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75488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828032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IP 포트폴리오 완성  —  특허 4건 + 상표 3건  =  총 7건  ·  후발주자 진입 장벽 구축 완료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85800" y="5157216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펜스 전략 설계 완료  ·  Sprint 특허법인 이석기 변리사 협업  ·  2025.10 전건 동시 출원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교차점에 아직 아무도 없습니다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828800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04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097280"/>
            <a:ext cx="236143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170432"/>
            <a:ext cx="22242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MBTI/심리검사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7438" y="1097280"/>
            <a:ext cx="236143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8878" y="1170432"/>
            <a:ext cx="22242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웨어러블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08876" y="1097280"/>
            <a:ext cx="236143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00316" y="1170432"/>
            <a:ext cx="22242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심리상담 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370314" y="1097280"/>
            <a:ext cx="236143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1754" y="1170432"/>
            <a:ext cx="22242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481328"/>
            <a:ext cx="1828800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56362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기질 분석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1865376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9476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행동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249424"/>
            <a:ext cx="1828800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3317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(T-60)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633472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7157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프라이버시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1828800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09981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방어선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401568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483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SDK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0" y="1481328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156362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있음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0" y="1865376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1947672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286000" y="2249424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0" y="2331720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0" y="2633472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77440" y="2715768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서버 저장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286000" y="3017520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0" y="3099816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86000" y="3401568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348386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불가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47438" y="1481328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8878" y="156362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47438" y="1865376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8878" y="1947672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신체만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47438" y="2249424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8878" y="2331720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47438" y="2633472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8878" y="2715768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클라우드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47438" y="3017520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8878" y="3099816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AI행동특허없음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47438" y="3401568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38878" y="348386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제한적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008876" y="1481328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00316" y="156362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제한적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008876" y="1865376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00316" y="1947672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008876" y="2249424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00316" y="2331720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008876" y="2633472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00316" y="2715768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상담사 공유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008876" y="3017520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00316" y="3099816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008876" y="3401568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00316" y="348386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불가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9370314" y="1481328"/>
            <a:ext cx="2361438" cy="384048"/>
          </a:xfrm>
          <a:prstGeom prst="rect">
            <a:avLst/>
          </a:prstGeom>
          <a:solidFill>
            <a:srgbClr val="EFF6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61754" y="156362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선천 기질 DNA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370314" y="1865376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461754" y="1947672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카드+행동 실시간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9370314" y="2249424"/>
            <a:ext cx="2361438" cy="384048"/>
          </a:xfrm>
          <a:prstGeom prst="rect">
            <a:avLst/>
          </a:prstGeom>
          <a:solidFill>
            <a:srgbClr val="EFF6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461754" y="2331720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60분 전 경고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9370314" y="2633472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461754" y="2715768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온디바이스 처리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9370314" y="3017520"/>
            <a:ext cx="2361438" cy="384048"/>
          </a:xfrm>
          <a:prstGeom prst="rect">
            <a:avLst/>
          </a:prstGeom>
          <a:solidFill>
            <a:srgbClr val="EFF6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461754" y="3099816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4건 출원완료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9370314" y="3401568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61754" y="348386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SDK 핵심 전략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457200" y="3922776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N-Kai만이 기질 × 실시간 행동 × 예측을 융합한 유일한 플레이어입니다.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57200" y="4334256"/>
            <a:ext cx="3636264" cy="2011680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57200" y="4334256"/>
            <a:ext cx="3636264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080" y="4471416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 특허 방어선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640080" y="4928616"/>
            <a:ext cx="3316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4건 출원 완료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대기업도 우회 불가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후발주자 진입 비용 무한대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4276344" y="4334256"/>
            <a:ext cx="3636264" cy="2011680"/>
          </a:xfrm>
          <a:prstGeom prst="rect">
            <a:avLst/>
          </a:prstGeom>
          <a:solidFill>
            <a:srgbClr val="111827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276344" y="4334256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459224" y="4471416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선점자 효과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4459224" y="4928616"/>
            <a:ext cx="3316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AI기본법 시행 직후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컴플라이언스 의무화 타이밍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형성 전 포지션 선점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8095488" y="4334256"/>
            <a:ext cx="3636264" cy="2011680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095488" y="4334256"/>
            <a:ext cx="3636264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278368" y="4471416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단일 플레이어</a:t>
            </a:r>
            <a:endParaRPr lang="en-US" sz="1400" dirty="0"/>
          </a:p>
        </p:txBody>
      </p:sp>
      <p:sp>
        <p:nvSpPr>
          <p:cNvPr id="88" name="Text 86"/>
          <p:cNvSpPr/>
          <p:nvPr/>
        </p:nvSpPr>
        <p:spPr>
          <a:xfrm>
            <a:off x="8278368" y="4928616"/>
            <a:ext cx="3316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기질+행동+예측 융합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세계 유일한 조합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SDK 즉시 배포 가능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 기술이 왜 이 사람에게서 나왔는가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6858000" cy="3291840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32918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0020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이원재  ·  Founder &amp; CEO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2039112"/>
            <a:ext cx="2286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67128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롯데카드 20년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2386584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 · 채권 · 마케팅 · 라이프 신사업 · 할부금융 — 금융 全영역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2642616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DB 타겟 세그먼트 &amp; TM 사업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2862072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롯데카드 DB × 상조사 제휴 · 170명 상담사 운영 · O/B TM 건당 중개수수료 · 3년간 70억 영업이익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3118104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FDS 3년 반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3337560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데이터로 이상거래 탐지 → 행동 예측 AI로 방향 전환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3593592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폐암 수술(2022.09) · 투병 중 창업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0120" y="3813048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설계 → 2025.09 법인설립 · 특허 4건 · 2027.09 완치 판정 예정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406908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F0D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"45년간 아무도 방향을 안 잡아줬기 때문에,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F0D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직접 내비게이터를 만들기로 했습니다."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43800" y="1417320"/>
            <a:ext cx="4187952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160020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Ask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26680" y="2039112"/>
            <a:ext cx="13716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22219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엔젤·시드 투자자 연결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26680" y="251460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빌딩 + SDK 상용화 런웨이 확보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26680" y="281635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기술자문 계약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26680" y="310896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500~1,000만원 · 첫 번째 수익 레퍼런스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26680" y="341071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파트너십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26680" y="370332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금융사·헬스케어·통신사 LOI 연결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26680" y="400507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바우처·정부과제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26680" y="429768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특허⑤ 출원 + 초창팩 연계 지원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11274552" cy="1097280"/>
          </a:xfrm>
          <a:prstGeom prst="rect">
            <a:avLst/>
          </a:prstGeom>
          <a:solidFill>
            <a:srgbClr val="1A1A2E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892040"/>
            <a:ext cx="54864" cy="10972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05663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남이 나를 어떻게 보느냐가 아니라, 내가 나를 어떻게 보느냐.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그것이 우리 기술이고, 철학이고, 존재 이유입니다.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686800" y="5029200"/>
            <a:ext cx="3044952" cy="8046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0" y="50932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가지만 부탁드립니다.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778240" y="54223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cpo@neurinkairosai.ai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08076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  ·  Life is 3 Times  ·  cpo@neurinkairosai.ai  · 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11274552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🌏  글로벌 확장 로드맵  — Asia-First Strategy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Profile SDK × 8개국 순차 진출 · TAM $1.2T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210312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338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 ·  현재 진행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1078992"/>
            <a:ext cx="4434840" cy="42062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1338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2-A  ·  2027 Q1  (선발대: 일본)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52360" y="1078992"/>
            <a:ext cx="4279392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1133856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2-B  ·  2027 Q2~  (HK·SG B2B)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600200"/>
            <a:ext cx="2103120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600200"/>
            <a:ext cx="21031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1901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🇰🇷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2688" y="1920240"/>
            <a:ext cx="38404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50800" dir="2700000">
              <a:srgbClr val="0D9488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2688" y="19202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53312" y="190195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258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실증 6개월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2496312"/>
            <a:ext cx="19202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587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N-Score 78 (+50%)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NRA 97.3%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392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카드 510건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867912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941064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롯데카드 LOI → 상용화 기반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88920" y="1600200"/>
            <a:ext cx="2103120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88920" y="1600200"/>
            <a:ext cx="2103120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62072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880360" y="1901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🇯🇵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264408" y="1920240"/>
            <a:ext cx="384048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76200" dist="50800" dir="2700000">
              <a:srgbClr val="D4AF37">
                <a:alpha val="4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264408" y="19202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85032" y="190195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880360" y="2258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미니엔진 선발대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80360" y="2496312"/>
            <a:ext cx="19202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80360" y="2587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점성술 앱 CAGR 20%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880360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특허③④ 직접 적합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880360" y="3392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규제장벽 최소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880360" y="3867912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53512" y="3941064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행동예측+운세 융합 신장르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2~3축 경량 MVP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120640" y="1600200"/>
            <a:ext cx="2103120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120640" y="1600200"/>
            <a:ext cx="2103120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93792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2-A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212080" y="1901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🇮🇩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596128" y="1920240"/>
            <a:ext cx="384048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76200" dist="50800" dir="2700000">
              <a:srgbClr val="D4AF37">
                <a:alpha val="4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596128" y="19202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16752" y="190195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3개국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212080" y="2258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인도네시아·베트남·필리핀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2080" y="2496312"/>
            <a:ext cx="19202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0" y="2587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미은행 인구 3~4억명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212080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핀테크 급성장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212080" y="3392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모바일 퍼스트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212080" y="3867912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85232" y="3941064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행동 기반 대안 신용평가 SDK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452360" y="1600200"/>
            <a:ext cx="2103120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452360" y="1600200"/>
            <a:ext cx="210312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25512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2-B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543800" y="1901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🇭🇰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7927848" y="1920240"/>
            <a:ext cx="384048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50800" dir="2700000">
              <a:srgbClr val="22C55E">
                <a:alpha val="4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927848" y="19202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348472" y="190195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홍콩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543800" y="2258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레퍼런스 이후 진입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543800" y="2496312"/>
            <a:ext cx="19202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43800" y="2587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AI 수용률 52%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543800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디지털 자산관리 93%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543800" y="3392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크로스보더 1위 전망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543800" y="3867912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16952" y="3941064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UHNW 행동기반 자산관리 레이어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555480" y="1600200"/>
            <a:ext cx="2176272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9555480" y="1600200"/>
            <a:ext cx="217627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628632" y="162763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2-B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9646920" y="1901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🇸🇬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0030968" y="1920240"/>
            <a:ext cx="384048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50800" dir="2700000">
              <a:srgbClr val="22C55E">
                <a:alpha val="4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10030968" y="19202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10451592" y="1901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싱가폴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9646920" y="225856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아시아 B2B 거점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646920" y="2496312"/>
            <a:ext cx="1993392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646920" y="258775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디지털 자산관리 85%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9646920" y="299008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MAS 샌드박스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9646920" y="339242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패밀리오피스 급증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9646920" y="3867912"/>
            <a:ext cx="1993392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720072" y="3941064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아시아 전체 영업 거점 확보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57200" y="5010912"/>
            <a:ext cx="11274552" cy="566928"/>
          </a:xfrm>
          <a:prstGeom prst="rect">
            <a:avLst/>
          </a:prstGeom>
          <a:solidFill>
            <a:srgbClr val="1A0A0A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57200" y="5010912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0080" y="507492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🇨🇳  Phase 3 (2028+)  ·  중국: 八字 AI 붐 폭발 · 판멘탈헬스 시장 ¥104억(약 2조원)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640080" y="5321808"/>
            <a:ext cx="10908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 전략: 홍콩 GBA 경유 간접 진출 · '행동과학 AI 웰니스' 포지셔닝 (운세 앱 규제 회피) · 동남아 행동 신용평가 레버리지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11274552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🇯🇵  Japan Mini-Engine MVP  — Phase 2-A 선발대 전략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Profile 9축 → 3축 경량화  ·  特許③④ 직접 적용  ·  B2C Freemium → B2B 데이터 레버리지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5303520" cy="4041648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78992"/>
            <a:ext cx="54864" cy="40416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161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탑재 축 선택  —  9축 중 3축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591056"/>
            <a:ext cx="49377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700784"/>
            <a:ext cx="4937760" cy="987552"/>
          </a:xfrm>
          <a:prstGeom prst="rect">
            <a:avLst/>
          </a:prstGeom>
          <a:solidFill>
            <a:srgbClr val="0F172A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700784"/>
            <a:ext cx="4572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77393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1  소비 행동 DNA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4672" y="202082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消費行動パターン  ·  特許① 카이로스 페르소나 엔진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" y="2231136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데이터 기반 — 한국 6개월 실증 510건 완료. 일본 전자결제 데이터와 직결. 행동 지문 생성 핵심축.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798064"/>
            <a:ext cx="4937760" cy="987552"/>
          </a:xfrm>
          <a:prstGeom prst="rect">
            <a:avLst/>
          </a:prstGeom>
          <a:solidFill>
            <a:srgbClr val="0F172A"/>
          </a:solidFill>
          <a:ln w="8890">
            <a:solidFill>
              <a:srgbClr val="D4AF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98064"/>
            <a:ext cx="45720" cy="9875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287121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4  타이밍 예측 (골든타임)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" y="311810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ゴールデンタイム予測  ·  特許① ROC 임계치 보정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04672" y="3328416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점성술 핵심 니즈 = '언제 행동하면 좋은가'. 행동 패턴 기반 골든타임 계산 → 星占い와 직접 연결. 차별화 최강 포인트.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895344"/>
            <a:ext cx="4937760" cy="987552"/>
          </a:xfrm>
          <a:prstGeom prst="rect">
            <a:avLst/>
          </a:prstGeom>
          <a:solidFill>
            <a:srgbClr val="0F172A"/>
          </a:solidFill>
          <a:ln w="889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895344"/>
            <a:ext cx="45720" cy="9875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96849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9  개인화 행운 숫자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4672" y="421538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パーソナル・ラッキーナンバー  ·  特許④ 행운 숫자 추천 알고리즘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" y="4425696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특허④ 그 자체. 생년월일+행동데이터 기반 AI 행운 숫자 산출. 일본 MZ세대 점성술 앱 1위 니즈와 완벽 정합. 월 구독 전환율 최고.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0" y="1078992"/>
            <a:ext cx="5742432" cy="1901952"/>
          </a:xfrm>
          <a:prstGeom prst="rect">
            <a:avLst/>
          </a:prstGeom>
          <a:solidFill>
            <a:srgbClr val="111827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1078992"/>
            <a:ext cx="54864" cy="19019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188720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💴  수익 모델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1554480"/>
            <a:ext cx="5376672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5819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78040" y="15819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38160" y="158191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1 기본 DNA 지문만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1956816"/>
            <a:ext cx="5376672" cy="347472"/>
          </a:xfrm>
          <a:prstGeom prst="rect">
            <a:avLst/>
          </a:prstGeom>
          <a:solidFill>
            <a:srgbClr val="0F2A1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1984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78040" y="1984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¥980/월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38160" y="1984248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3축 풀 + 골든타임 알림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72200" y="2359152"/>
            <a:ext cx="5376672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23865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78040" y="23865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¥1,980/월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38160" y="2386584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보고서 + API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989320" y="2798064"/>
            <a:ext cx="5742432" cy="3063240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89320" y="2798064"/>
            <a:ext cx="54864" cy="29992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2907792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실행 타임라인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172200" y="3273552"/>
            <a:ext cx="8229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0488" y="331012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90488" y="354787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04888" y="3383280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현지화 파트너 탐색 · 3축 엔진 경량화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72200" y="3895344"/>
            <a:ext cx="8229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0488" y="393192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Q4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190488" y="416966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베타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104888" y="4005072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앱스토어 출시 (JP) · MAU 축적 시작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72200" y="4517136"/>
            <a:ext cx="8229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90488" y="455371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Q1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190488" y="479145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수익화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104888" y="4626864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전환 · 행동 데이터 DB 완성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72200" y="5138928"/>
            <a:ext cx="8229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0488" y="51755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Q2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190488" y="541324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레버리지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104888" y="5248656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MAU → HK·SG B2B 영업 실탄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" y="5943600"/>
            <a:ext cx="11274552" cy="530352"/>
          </a:xfrm>
          <a:prstGeom prst="rect">
            <a:avLst/>
          </a:prstGeom>
          <a:solidFill>
            <a:srgbClr val="1A1A0A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6062472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가설  :  일본 MAU × 행동 데이터 = 홍콩·싱가폴 B2B 영업의 '이중 레퍼런스'  →  투자자 설득력 2배 상승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11274552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 Pre-Seed 투자 유치  —  3억~5억원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상용화 런웨이 18개월 확보  ·  첫 번째 수익 계약 → 롯데카드 LOI → Series A 브릿지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605784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3605784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078992"/>
            <a:ext cx="3331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3억~5억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1572768"/>
            <a:ext cx="3331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목표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828800"/>
            <a:ext cx="3331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유치 금액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1584" y="914400"/>
            <a:ext cx="3605784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1584" y="914400"/>
            <a:ext cx="360578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74464" y="1078992"/>
            <a:ext cx="3331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18개월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474464" y="1572768"/>
            <a:ext cx="3331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런웨이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74464" y="1828800"/>
            <a:ext cx="3331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확보 기간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25968" y="914400"/>
            <a:ext cx="3605784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5968" y="914400"/>
            <a:ext cx="3605784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8848" y="1078992"/>
            <a:ext cx="3331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 Q1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308848" y="1572768"/>
            <a:ext cx="3331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브릿지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08848" y="1828800"/>
            <a:ext cx="3331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Round 목표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240280"/>
            <a:ext cx="6583680" cy="3986784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240280"/>
            <a:ext cx="54864" cy="398678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3774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 Use of Funds  —  투자금 사용 계획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2761488"/>
            <a:ext cx="62179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2862072"/>
            <a:ext cx="6217920" cy="786384"/>
          </a:xfrm>
          <a:prstGeom prst="rect">
            <a:avLst/>
          </a:prstGeom>
          <a:solidFill>
            <a:srgbClr val="0F172A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2862072"/>
            <a:ext cx="45720" cy="78638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29352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481328" y="29352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빌딩  ·  약 1.5~2.2억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481328" y="326440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개발자 1명 + 사업개발 1명 채용 (18개월 인건비)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내재화 — SDK 상용화 실행력 확보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703320"/>
            <a:ext cx="6217920" cy="786384"/>
          </a:xfrm>
          <a:prstGeom prst="rect">
            <a:avLst/>
          </a:prstGeom>
          <a:solidFill>
            <a:srgbClr val="0F172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3703320"/>
            <a:ext cx="45720" cy="7863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3776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481328" y="3776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상용화 개발  ·  약 1.0~1.8억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481328" y="410565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Profile API 고도화 + 일본 미니엔진 MVP 개발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인프라 구축 · 보안·컴플라이언스 대응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" y="4544568"/>
            <a:ext cx="6217920" cy="786384"/>
          </a:xfrm>
          <a:prstGeom prst="rect">
            <a:avLst/>
          </a:prstGeom>
          <a:solidFill>
            <a:srgbClr val="0F172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544568"/>
            <a:ext cx="45720" cy="7863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4617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481328" y="4617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영업·마케팅  ·  약 0.4~0.6억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481328" y="4946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롯데카드 LOI → 기술자문 500~1,000만원 레퍼런스 확보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파트너십 미팅·데모데이·IR 활동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" y="5385816"/>
            <a:ext cx="6217920" cy="786384"/>
          </a:xfrm>
          <a:prstGeom prst="rect">
            <a:avLst/>
          </a:prstGeom>
          <a:solidFill>
            <a:srgbClr val="0F172A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" y="5385816"/>
            <a:ext cx="45720" cy="78638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6384" y="54589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481328" y="5458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특허·법무·운영  ·  약 0.2~0.4억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481328" y="5788152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특허⑤ 출원 (IP 바우처 활용 병행) · 법인 운영 고정비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회계·세무·컴플라이언스 비용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69480" y="2240280"/>
            <a:ext cx="4462272" cy="3986784"/>
          </a:xfrm>
          <a:prstGeom prst="rect">
            <a:avLst/>
          </a:prstGeom>
          <a:solidFill>
            <a:srgbClr val="111827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69480" y="2240280"/>
            <a:ext cx="54864" cy="39867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2377440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투자 근거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452360" y="2761488"/>
            <a:ext cx="4096512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52360" y="2862072"/>
            <a:ext cx="4096512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25512" y="295351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891272" y="2926080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방어선 완성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91272" y="3172968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4건+상표 3건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7건 선출원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후발주자 차단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452360" y="3703320"/>
            <a:ext cx="4096512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25512" y="379476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891272" y="3767328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데이터 보유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891272" y="4014216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D90 PoC 완료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510건 카드 데이터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NRA 97.3% 검증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452360" y="4544568"/>
            <a:ext cx="4096512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25512" y="463600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7891272" y="4608576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 계약 임박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891272" y="485546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롯데카드 LOI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협의 진행 중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기술자문 수익 예상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452360" y="5385816"/>
            <a:ext cx="4096512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25512" y="547725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🌏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7891272" y="544982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로드맵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7891272" y="569671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일본→HK·SG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아시아 8개국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동일 엔진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7200" y="6236208"/>
            <a:ext cx="11274552" cy="502920"/>
          </a:xfrm>
          <a:prstGeom prst="rect">
            <a:avLst/>
          </a:prstGeom>
          <a:solidFill>
            <a:srgbClr val="1A1A0A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" y="6236208"/>
            <a:ext cx="54864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0080" y="6345936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지금이 골든윈도우입니다  ·  AI기본법 시행 + 특허 방어선 완성 + 롯데카드 LOI 진행 중  —  Pre-Seed 라운드 오픈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2026-03-08T16:31:43Z</dcterms:created>
  <dcterms:modified xsi:type="dcterms:W3CDTF">2026-03-08T16:31:43Z</dcterms:modified>
</cp:coreProperties>
</file>