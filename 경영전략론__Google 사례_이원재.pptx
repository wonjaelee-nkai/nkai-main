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9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2A5F5"/>
                </a:solidFill>
                <a:latin typeface="Arial"/>
              </a:defRPr>
            </a:pPr>
            <a:r>
              <a:rPr lang="ko-KR" altLang="en-US" sz="1300" b="0" i="0" u="none" strike="noStrike">
                <a:solidFill>
                  <a:srgbClr val="42A5F5"/>
                </a:solidFill>
                <a:latin typeface="Arial"/>
              </a:rPr>
              <a:t>연도별 매출 </a:t>
            </a:r>
            <a:r>
              <a:rPr lang="en-US" altLang="ko-KR" sz="1300" b="0" i="0" u="none" strike="noStrike">
                <a:solidFill>
                  <a:srgbClr val="42A5F5"/>
                </a:solidFill>
                <a:latin typeface="Arial"/>
              </a:rPr>
              <a:t>($</a:t>
            </a:r>
            <a:r>
              <a:rPr lang="en-US" sz="1300" b="0" i="0" u="none" strike="noStrike">
                <a:solidFill>
                  <a:srgbClr val="42A5F5"/>
                </a:solidFill>
                <a:latin typeface="Arial"/>
              </a:rPr>
              <a:t>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 매출 ($B)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161</c:v>
                </c:pt>
                <c:pt idx="1">
                  <c:v>182</c:v>
                </c:pt>
                <c:pt idx="2">
                  <c:v>257</c:v>
                </c:pt>
                <c:pt idx="3">
                  <c:v>282</c:v>
                </c:pt>
                <c:pt idx="4">
                  <c:v>307</c:v>
                </c:pt>
                <c:pt idx="5">
                  <c:v>350</c:v>
                </c:pt>
                <c:pt idx="6">
                  <c:v>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80-4603-88C3-3D5CCFE730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D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6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D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A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6BB6A"/>
                </a:solidFill>
                <a:latin typeface="Arial"/>
              </a:defRPr>
            </a:pPr>
            <a:r>
              <a:rPr lang="ko-KR" altLang="en-US" sz="1100" b="0" i="0" u="none" strike="noStrike">
                <a:solidFill>
                  <a:srgbClr val="66BB6A"/>
                </a:solidFill>
                <a:latin typeface="Arial"/>
              </a:rPr>
              <a:t>영업이익률 </a:t>
            </a:r>
            <a:r>
              <a:rPr lang="en-US" altLang="ko-KR" sz="1100" b="0" i="0" u="none" strike="noStrike">
                <a:solidFill>
                  <a:srgbClr val="66BB6A"/>
                </a:solidFill>
                <a:latin typeface="Arial"/>
              </a:rPr>
              <a:t>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 (%)</c:v>
                </c:pt>
              </c:strCache>
            </c:strRef>
          </c:tx>
          <c:spPr>
            <a:ln w="38100" cap="flat">
              <a:solidFill>
                <a:srgbClr val="66BB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BB6A"/>
              </a:solidFill>
              <a:ln w="9525" cap="flat">
                <a:solidFill>
                  <a:srgbClr val="66BB6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66BB6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</c:v>
                </c:pt>
                <c:pt idx="1">
                  <c:v>23</c:v>
                </c:pt>
                <c:pt idx="2">
                  <c:v>30</c:v>
                </c:pt>
                <c:pt idx="3">
                  <c:v>27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6FE-414B-84C3-34CE0E2A22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D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6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D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27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974336"/>
            <a:ext cx="7772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99B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974336"/>
            <a:ext cx="7772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99B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457200"/>
            <a:ext cx="2743200" cy="2743200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F9A825">
              <a:alpha val="22000"/>
            </a:srgbClr>
          </a:solidFill>
          <a:ln w="12700">
            <a:solidFill>
              <a:srgbClr val="F9A82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57200" cy="1289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289304"/>
            <a:ext cx="457200" cy="12893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78608"/>
            <a:ext cx="457200" cy="128930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67912"/>
            <a:ext cx="457200" cy="1289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경영전략 성공사례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전략·데이터 지배·AI 전환으로 세계를 정복한 경영전략 심층 분석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493008"/>
            <a:ext cx="6858000" cy="868680"/>
          </a:xfrm>
          <a:prstGeom prst="rect">
            <a:avLst/>
          </a:prstGeom>
          <a:solidFill>
            <a:srgbClr val="1C2A4A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93008"/>
            <a:ext cx="54864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478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 경영전략론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82219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DD6"/>
                </a:solidFill>
              </a:rPr>
              <a:t>발표자  </a:t>
            </a:r>
            <a:r>
              <a:rPr lang="en-US" sz="1300" b="1" dirty="0">
                <a:solidFill>
                  <a:srgbClr val="FFFFFF"/>
                </a:solidFill>
              </a:rPr>
              <a:t>이원재</a:t>
            </a:r>
            <a:r>
              <a:rPr lang="en-US" sz="1300" dirty="0">
                <a:solidFill>
                  <a:srgbClr val="B0BDD6"/>
                </a:solidFill>
              </a:rPr>
              <a:t>     |     담당교수  </a:t>
            </a:r>
            <a:r>
              <a:rPr lang="en-US" sz="1300" b="1" dirty="0">
                <a:solidFill>
                  <a:srgbClr val="FFFFFF"/>
                </a:solidFill>
              </a:rPr>
              <a:t>박영균 교수님</a:t>
            </a:r>
            <a:r>
              <a:rPr lang="en-US" sz="1300" dirty="0">
                <a:solidFill>
                  <a:srgbClr val="B0BDD6"/>
                </a:solidFill>
              </a:rPr>
              <a:t>     |     발표일  </a:t>
            </a:r>
            <a:r>
              <a:rPr lang="en-US" sz="1300" b="1" dirty="0">
                <a:solidFill>
                  <a:srgbClr val="F9A825"/>
                </a:solidFill>
              </a:rPr>
              <a:t>2026년 3월 25일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Inc. (GOOGL)  |  설립 1998  |  시가총액 $2.1T  |  경영전략 성공사례 심층 분석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  차  / 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475488" cy="521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06424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1247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기업 개요 &amp; 창업 스토리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24128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24128"/>
            <a:ext cx="475488" cy="5212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06424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11247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핵심 미션 &amp; 비전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09344"/>
            <a:ext cx="475488" cy="5212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91640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17099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비즈니스 모델 &amp; 수익 구조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9344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09344"/>
            <a:ext cx="475488" cy="5212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91640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17099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플랫폼 플라이휠 전략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94560"/>
            <a:ext cx="475488" cy="521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76856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22951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경쟁전략 분석 — Porter 5 Forces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94560"/>
            <a:ext cx="475488" cy="5212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76856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22951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VRIO 분석 — 지속적 경쟁우위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779776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79776"/>
            <a:ext cx="475488" cy="5212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862072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28803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문샷(Moonshot) 전략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779776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779776"/>
            <a:ext cx="475488" cy="5212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862072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21808" y="28803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전환 전략 — Gemini &amp; Cloud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364992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364992"/>
            <a:ext cx="475488" cy="521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447288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" y="34655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재무 성과 (2019~2024)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364992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364992"/>
            <a:ext cx="475488" cy="5212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447288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21808" y="34655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도전과 리스크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950208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950208"/>
            <a:ext cx="475488" cy="5212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032504"/>
            <a:ext cx="475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1248" y="405079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시사점 &amp; 결론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54880" y="3950208"/>
            <a:ext cx="4114800" cy="521208"/>
          </a:xfrm>
          <a:prstGeom prst="rect">
            <a:avLst/>
          </a:prstGeom>
          <a:solidFill>
            <a:srgbClr val="1A237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059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플랫폼  ·  데이터  ·  AI  ·  문샷  ·  10X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기업 개요 &amp; 창업 스토리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0" cy="4133088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창업에서 제국까지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17904"/>
            <a:ext cx="246888" cy="24688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55648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81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4813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래리 페이지·세르게이 브린, 스탠포드 박사과정 중 만남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65376"/>
            <a:ext cx="246888" cy="24688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03120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288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4752" y="18288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'BackRub' 검색엔진 개발 — 링크 분석 기반 랭킹 알고리즘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212848"/>
            <a:ext cx="246888" cy="24688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450592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76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차고 창업. 초기 투자 $100,000 (앤디 벡톨샤임) → 법인 설립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560320"/>
            <a:ext cx="246888" cy="24688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798064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5237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44752" y="25237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AdWords 론칭 → 광고 수익 모델 탄생, 비즈니스 전환점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907792"/>
            <a:ext cx="246888" cy="24688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145536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8712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44752" y="28712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 IPO $85/주 → 현재 $175+ (21배 성장)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255264"/>
            <a:ext cx="246888" cy="24688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493008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2186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44752" y="32186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지주사 설립 → 문샷 프로젝트 분리 독립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3602736"/>
            <a:ext cx="246888" cy="24688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840480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5661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44752" y="35661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 → Gemini 출시, 전사 AI 전환 선언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3950208"/>
            <a:ext cx="246888" cy="24688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87952"/>
            <a:ext cx="0" cy="91440"/>
          </a:xfrm>
          <a:prstGeom prst="line">
            <a:avLst/>
          </a:prstGeom>
          <a:noFill/>
          <a:ln w="12700">
            <a:solidFill>
              <a:srgbClr val="7B8A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13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44752" y="39136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1.5·AI Overviews 검색 탑재, Waymo 10만 건/주 달성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4297680"/>
            <a:ext cx="246888" cy="24688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42611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444752" y="42611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2.0·Project Astra 발표, GCP $43B 분기 돌파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914400"/>
            <a:ext cx="1828800" cy="1170432"/>
          </a:xfrm>
          <a:prstGeom prst="rect">
            <a:avLst/>
          </a:prstGeom>
          <a:solidFill>
            <a:srgbClr val="1C2A4A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914400"/>
            <a:ext cx="18288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$2.1T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07492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시가총액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86600" y="914400"/>
            <a:ext cx="1828800" cy="1170432"/>
          </a:xfrm>
          <a:prstGeom prst="rect">
            <a:avLst/>
          </a:prstGeom>
          <a:solidFill>
            <a:srgbClr val="1C2A4A"/>
          </a:solidFill>
          <a:ln w="254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086600" y="914400"/>
            <a:ext cx="18288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708660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검색 점유율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74920" y="2240280"/>
            <a:ext cx="1828800" cy="1170432"/>
          </a:xfrm>
          <a:prstGeom prst="rect">
            <a:avLst/>
          </a:prstGeom>
          <a:solidFill>
            <a:srgbClr val="1C2A4A"/>
          </a:solidFill>
          <a:ln w="254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2240280"/>
            <a:ext cx="182880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2423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$397B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507492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매출 (2025E)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86600" y="2240280"/>
            <a:ext cx="1828800" cy="1170432"/>
          </a:xfrm>
          <a:prstGeom prst="rect">
            <a:avLst/>
          </a:prstGeom>
          <a:solidFill>
            <a:srgbClr val="1C2A4A"/>
          </a:solidFill>
          <a:ln w="254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086600" y="2240280"/>
            <a:ext cx="18288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2423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18만명+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708660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임직원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74920" y="3566160"/>
            <a:ext cx="1828800" cy="1170432"/>
          </a:xfrm>
          <a:prstGeom prst="rect">
            <a:avLst/>
          </a:prstGeom>
          <a:solidFill>
            <a:srgbClr val="1C2A4A"/>
          </a:solidFill>
          <a:ln w="254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074920" y="3566160"/>
            <a:ext cx="18288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3B+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507492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기기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086600" y="3566160"/>
            <a:ext cx="1828800" cy="1170432"/>
          </a:xfrm>
          <a:prstGeom prst="rect">
            <a:avLst/>
          </a:prstGeom>
          <a:solidFill>
            <a:srgbClr val="1C2A4A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086600" y="3566160"/>
            <a:ext cx="1828800" cy="1097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86600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5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2.7B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708660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사용자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핵심 미션 &amp; 비전 — 전략의 출발점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143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"세계의 정보를 체계화하여, 모든 사람이 보편적으로 접근하고 사용할 수 있도록 한다"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7432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2743200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Mission (현재)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민주화 — 누구나 정보 접근 가능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38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서비스 제공 → 광고 수익으로 전환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19709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검색·메일·지도·유튜브 생활 인프라화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7432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240280"/>
            <a:ext cx="2743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286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Vision (미래)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"AI-First" — 모든 제품에 AI 통합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538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Waymo·DeepMind로 물리 세계 진출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419709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정보에서 '판단'까지 지원하는 초지능 플랫폼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240280"/>
            <a:ext cx="27432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240280"/>
            <a:ext cx="27432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286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핵심 가치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최우선 (User Focus)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538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장기적 사고 (10X Thinking)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419709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의사결정 문화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비즈니스 모델 &amp; 수익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00" cy="397764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매출 구성 분해 — 2025E 기준 $397B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389120" cy="475488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81328"/>
            <a:ext cx="2414016" cy="475488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544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검색 광고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554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$218B  (55%)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572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캐시카우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4389120" cy="475488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39696"/>
            <a:ext cx="570586" cy="475488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128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(GCP)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212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$52B  (13%)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231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+30% 최고속 성장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798064"/>
            <a:ext cx="4389120" cy="475488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798064"/>
            <a:ext cx="438912" cy="475488"/>
          </a:xfrm>
          <a:prstGeom prst="rect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광고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871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  (10%)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89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2대 비디오 플랫폼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456432"/>
            <a:ext cx="4389120" cy="475488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456432"/>
            <a:ext cx="307238" cy="475488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5295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Network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5295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  (7%)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547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AdSense 파트너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4389120" cy="475488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114800"/>
            <a:ext cx="658368" cy="475488"/>
          </a:xfrm>
          <a:prstGeom prst="rect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1879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(Waymo·Verily 등)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4187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$59B  (15%)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206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성장 씨앗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914400"/>
            <a:ext cx="2926080" cy="397764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구글의 수익 공식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1463040"/>
            <a:ext cx="27432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62472" y="1490472"/>
            <a:ext cx="384048" cy="3840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1499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10528" y="14813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서비스 제공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(검색·Gmail·지도·유튜브)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2121408"/>
            <a:ext cx="27432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62472" y="2148840"/>
            <a:ext cx="384048" cy="38404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2157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10528" y="21396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데이터 대량 수집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(행동·위치·관심사)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2779776"/>
            <a:ext cx="27432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62472" y="2807208"/>
            <a:ext cx="384048" cy="38404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10528" y="27980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초정밀 광고 타겟팅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(클릭당 과금 CPC 모델)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438144"/>
            <a:ext cx="27432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62472" y="3465576"/>
            <a:ext cx="384048" cy="38404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34747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34564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광고주 ROI 극대화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많은 광고비 집행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4096512"/>
            <a:ext cx="27432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62472" y="4123944"/>
            <a:ext cx="384048" cy="3840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62472" y="4133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10528" y="41148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수익으로 서비스 고도화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많은 사용자 유입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플랫폼 플라이휠 전략 — 자기강화 성장 엔진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377440" y="1005840"/>
            <a:ext cx="4389120" cy="3246120"/>
          </a:xfrm>
          <a:prstGeom prst="ellipse">
            <a:avLst/>
          </a:prstGeom>
          <a:solidFill>
            <a:srgbClr val="1565C0">
              <a:alpha val="12000"/>
            </a:srgbClr>
          </a:solidFill>
          <a:ln w="25400">
            <a:solidFill>
              <a:srgbClr val="1565C0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3108960" y="1527048"/>
            <a:ext cx="2926080" cy="2194560"/>
          </a:xfrm>
          <a:prstGeom prst="ellipse">
            <a:avLst/>
          </a:prstGeom>
          <a:solidFill>
            <a:srgbClr val="2E7D32">
              <a:alpha val="15000"/>
            </a:srgbClr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67328" y="2011680"/>
            <a:ext cx="1609344" cy="1207008"/>
          </a:xfrm>
          <a:prstGeom prst="ellipse">
            <a:avLst/>
          </a:prstGeom>
          <a:solidFill>
            <a:srgbClr val="1565C0"/>
          </a:solidFill>
          <a:ln w="381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7328" y="2112264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Flywheel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2057400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2057400"/>
            <a:ext cx="1554480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" y="2240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서비스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(검색·유튜브·지도)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024128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1024128"/>
            <a:ext cx="1554480" cy="1188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12070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024128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024128"/>
            <a:ext cx="1554480" cy="1188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2070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024128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024128"/>
            <a:ext cx="1554480" cy="1188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2070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정밀도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2423160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2423160"/>
            <a:ext cx="1554480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26060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증가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3703320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3703320"/>
            <a:ext cx="1554480" cy="1188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3886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&amp; 인프라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재투자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3730752"/>
            <a:ext cx="1554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0" y="3730752"/>
            <a:ext cx="1554480" cy="1188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9152" y="39136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향상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000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플라이휠 핵심:  한 단계가 강화되면 전체가 가속 → 경쟁사가 진입할수록 속도 차이가 벌어지는 자기강화 구조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 Porter의 5 Forces 분석 — Google의 경쟁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383280" y="2103120"/>
            <a:ext cx="2377440" cy="1097280"/>
          </a:xfrm>
          <a:prstGeom prst="rect">
            <a:avLst/>
          </a:prstGeom>
          <a:solidFill>
            <a:srgbClr val="1565C0"/>
          </a:solidFill>
          <a:ln w="381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경쟁 강도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100584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914400"/>
            <a:ext cx="2743200" cy="10972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60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낮음  위 (신규진입위협)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기술 장벽 극도로 높음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독점 진입 차단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수십조 인프라 선투자 필요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2743200" cy="100584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3840480"/>
            <a:ext cx="2743200" cy="10972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9867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중간  아래 (대체재 위협)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297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ChatGPT·Perplexity 부상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검색 패러다임 전환 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단기 위협은 제한적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331720"/>
            <a:ext cx="2834640" cy="100584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331720"/>
            <a:ext cx="2834640" cy="10972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780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낮음  좌 (공급자 교섭력)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7889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자체 칩(TPU)·서버 자급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오픈소스 생태계 활용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데이터센터 자체 구축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834640" cy="1005840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331720"/>
            <a:ext cx="2834640" cy="10972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780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중간  우 (구매자 교섭력)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7889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광고주: 페이스북·틱톡 대안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일반 사용자: 전환 비용 거의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단, 습관화 효과로 유지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794760"/>
            <a:ext cx="8778240" cy="1024128"/>
          </a:xfrm>
          <a:prstGeom prst="rect">
            <a:avLst/>
          </a:prstGeom>
          <a:solidFill>
            <a:srgbClr val="1C2A4A"/>
          </a:solidFill>
          <a:ln w="12700">
            <a:solidFill>
              <a:srgbClr val="1C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794760"/>
            <a:ext cx="8778240" cy="1097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941064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매우 높음  중좌 (기존 경쟁강도)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251960"/>
            <a:ext cx="8641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Microsoft(Bing+AI) · Apple(검색협상) · Meta(광고시장) · Amazon(쇼핑검색) · TikTok(미디어) — 빅테크 전면전 양상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💎  VRIO 분석 — Google의 지속적 경쟁우위 원천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65176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418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자원 / 역량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98648" y="914400"/>
            <a:ext cx="77724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9418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94176" y="914400"/>
            <a:ext cx="77724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9418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희소성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9704" y="914400"/>
            <a:ext cx="804672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941832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모방불가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12664" y="914400"/>
            <a:ext cx="77724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9418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8192" y="914400"/>
            <a:ext cx="233172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9418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경쟁우위 결론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4630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검색 알고리즘 &amp; 인덱스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98648" y="14630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1517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94176" y="14630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1517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9704" y="1463040"/>
            <a:ext cx="804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15179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12664" y="14630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8384" y="1517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08192" y="1463040"/>
            <a:ext cx="2331720" cy="457200"/>
          </a:xfrm>
          <a:prstGeom prst="rect">
            <a:avLst/>
          </a:prstGeom>
          <a:solidFill>
            <a:srgbClr val="66BB6A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15179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경쟁우위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1920240"/>
            <a:ext cx="26517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975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사용자 행동 데이터 (26년 축적)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98648" y="19202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1975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94176" y="19202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9896" y="1975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89704" y="1920240"/>
            <a:ext cx="804672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5424" y="19751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12664" y="19202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58384" y="1975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08192" y="1920240"/>
            <a:ext cx="2331720" cy="457200"/>
          </a:xfrm>
          <a:prstGeom prst="rect">
            <a:avLst/>
          </a:prstGeom>
          <a:solidFill>
            <a:srgbClr val="66BB6A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1975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경쟁우위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23774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4323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글로벌 데이터센터 인프라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98648" y="23774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24323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94176" y="23774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9896" y="24323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489704" y="2377440"/>
            <a:ext cx="804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35424" y="24323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12664" y="23774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58384" y="24323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108192" y="2377440"/>
            <a:ext cx="2331720" cy="457200"/>
          </a:xfrm>
          <a:prstGeom prst="rect">
            <a:avLst/>
          </a:prstGeom>
          <a:solidFill>
            <a:srgbClr val="66BB6A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53912" y="24323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경쟁우위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28600" y="2834640"/>
            <a:ext cx="26517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28895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/ 머신러닝 역량 (DeepMind)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98648" y="28346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4368" y="28895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694176" y="28346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9896" y="28895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489704" y="2834640"/>
            <a:ext cx="804672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35424" y="28895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312664" y="28346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58384" y="28895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108192" y="2834640"/>
            <a:ext cx="2331720" cy="457200"/>
          </a:xfrm>
          <a:prstGeom prst="rect">
            <a:avLst/>
          </a:prstGeom>
          <a:solidFill>
            <a:srgbClr val="FFD54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53912" y="28895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일시적 우위 (AI 경쟁 격화)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8600" y="32918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346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Android 오픈소스 생태계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898648" y="32918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44368" y="33467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694176" y="32918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39896" y="33467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489704" y="3291840"/>
            <a:ext cx="804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35424" y="33467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312664" y="32918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58384" y="33467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108192" y="3291840"/>
            <a:ext cx="2331720" cy="457200"/>
          </a:xfrm>
          <a:prstGeom prst="rect">
            <a:avLst/>
          </a:prstGeom>
          <a:solidFill>
            <a:srgbClr val="FFD54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53912" y="33467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우위 (규제 리스크)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28600" y="3749040"/>
            <a:ext cx="265176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3803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YouTube 콘텐츠 플랫폼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98648" y="37490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4368" y="3803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694176" y="37490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39896" y="3803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489704" y="3749040"/>
            <a:ext cx="804672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35424" y="38039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312664" y="3749040"/>
            <a:ext cx="777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58384" y="3803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108192" y="3749040"/>
            <a:ext cx="2331720" cy="457200"/>
          </a:xfrm>
          <a:prstGeom prst="rect">
            <a:avLst/>
          </a:prstGeom>
          <a:solidFill>
            <a:srgbClr val="66BB6A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53912" y="38039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경쟁우위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28600" y="42062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4261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광고 플랫폼 (AdWords/DV360)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898648" y="42062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44368" y="4261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3694176" y="42062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39896" y="4261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4489704" y="4206240"/>
            <a:ext cx="804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35424" y="42611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5312664" y="42062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358384" y="42611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6108192" y="4206240"/>
            <a:ext cx="2331720" cy="457200"/>
          </a:xfrm>
          <a:prstGeom prst="rect">
            <a:avLst/>
          </a:prstGeom>
          <a:solidFill>
            <a:srgbClr val="EF5350"/>
          </a:solidFill>
          <a:ln w="12700">
            <a:solidFill>
              <a:srgbClr val="B0BDD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53912" y="4261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경쟁위협 존재 (Meta·TikTok)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040" y="4700016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 Google 핵심 4대 자원(검색·데이터·인프라·YouTube)은 모두 VRIO 충족 → 단기간 추월 불가능한 경쟁우위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문샷(Moonshot) 전략 — "10배"를 목표로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1C2A4A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Moonshot =  "10% 개선" 이 아닌  "10배(10X) 혁신" 만을 추구.  실패해도 괜찮다 — 10X 시도의 반쪽 성공도 10% 개선의 5배 이상 가치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88920" cy="1508760"/>
          </a:xfrm>
          <a:prstGeom prst="rect">
            <a:avLst/>
          </a:prstGeom>
          <a:solidFill>
            <a:srgbClr val="1C2A4A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88920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56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DeepMind / Gemini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21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 🔥  |  $400B+ 가치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최고 AI 연구소 인수(2014, £400M)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ChatGPT 대항 범용 AI 개발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788920" cy="1508760"/>
          </a:xfrm>
          <a:prstGeom prst="rect">
            <a:avLst/>
          </a:prstGeom>
          <a:solidFill>
            <a:srgbClr val="1C2A4A"/>
          </a:solidFill>
          <a:ln w="254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91640"/>
            <a:ext cx="2788920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56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Waymo (자율주행)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21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상업화 ✅  |  세계 1위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로보택시 상업 운행 (샌프란·피닉스)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주당 10만 건 이상 서비스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788920" cy="1508760"/>
          </a:xfrm>
          <a:prstGeom prst="rect">
            <a:avLst/>
          </a:prstGeom>
          <a:solidFill>
            <a:srgbClr val="1C2A4A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91640"/>
            <a:ext cx="2788920" cy="1188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856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Verily (생명과학)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221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연구중 🔬  |  수명연장 연구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콘택트렌즈·질병 조기 발견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프로젝트 — 인간 노화 정복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2788920" cy="1508760"/>
          </a:xfrm>
          <a:prstGeom prst="rect">
            <a:avLst/>
          </a:prstGeom>
          <a:solidFill>
            <a:srgbClr val="1C2A4A"/>
          </a:solidFill>
          <a:ln w="25400">
            <a:solidFill>
              <a:srgbClr val="FFD54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83280"/>
            <a:ext cx="2788920" cy="11887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47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Project Loon (인터넷)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13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완료·응용  |  성층권 기구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풍선으로 미연결 지역 인터넷 공급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케냐 홍수 피해 지역 실증 완료 후 종료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383280"/>
            <a:ext cx="2788920" cy="1508760"/>
          </a:xfrm>
          <a:prstGeom prst="rect">
            <a:avLst/>
          </a:prstGeom>
          <a:solidFill>
            <a:srgbClr val="1C2A4A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383280"/>
            <a:ext cx="2788920" cy="1188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547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Google Energy / 원자력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913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 🔥  |  무탄소 에너지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탄소중립 목표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핵융합 스타트업 투자·에너지 전환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2788920" cy="1508760"/>
          </a:xfrm>
          <a:prstGeom prst="rect">
            <a:avLst/>
          </a:prstGeom>
          <a:solidFill>
            <a:srgbClr val="1C2A4A"/>
          </a:solidFill>
          <a:ln w="254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383280"/>
            <a:ext cx="2788920" cy="1188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547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Cloud (GCP)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913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🚀  |  $33B 매출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AWS·Azure 대항 클라우드 3위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2023~24년 흑자 전환 성공, 고속 성장 중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AI 전환 전략 — "AI-First" 로의 대전환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D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Google AI 진화 타임라인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237744" cy="237744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673352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9903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89888" y="139903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— 링크 그래프 기반 초기 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47088"/>
            <a:ext cx="237744" cy="23774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2075688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01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18013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혁명 — Google Brain 설립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249424"/>
            <a:ext cx="237744" cy="237744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2478024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0370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22037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인수 ($600M) — AlphaGo 탄생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51760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2880360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0604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988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논문 발표 — AI 패러다임 혁신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054096"/>
            <a:ext cx="237744" cy="23774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282696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0837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9888" y="30083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LaMDA 개발 → 초거대 언어모델 내재화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456432"/>
            <a:ext cx="237744" cy="237744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" y="3685032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41071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4107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 출시 → Gemini로 리브랜딩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3858768"/>
            <a:ext cx="237744" cy="23774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" y="4087368"/>
            <a:ext cx="0" cy="137160"/>
          </a:xfrm>
          <a:prstGeom prst="line">
            <a:avLst/>
          </a:prstGeom>
          <a:noFill/>
          <a:ln w="12700">
            <a:solidFill>
              <a:srgbClr val="B0B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8130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89888" y="38130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— GPT-4 추월 선언, AI Overviews 글로벌 출시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4261104"/>
            <a:ext cx="237744" cy="23774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21538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89888" y="421538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Flash·Project Astra 공개, AI Agent 시대 본격 선언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914400"/>
            <a:ext cx="42519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914400"/>
            <a:ext cx="56692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11338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48656" y="9692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Ultra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48656" y="131673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대항 범용 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검색·Google Workspace 전면 탑재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1847088"/>
            <a:ext cx="42519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17720" y="1847088"/>
            <a:ext cx="566928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06654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248656" y="19019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AI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48656" y="224942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기업용 AI API·Vertex 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추월 목표 $100B 매출 로드맵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2779776"/>
            <a:ext cx="42519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2779776"/>
            <a:ext cx="56692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299923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48656" y="28346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(AI 전용 칩)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48656" y="318211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 텐서 프로세서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의존 탈피, 비용 1/3 절감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3712464"/>
            <a:ext cx="42519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17720" y="3712464"/>
            <a:ext cx="566928" cy="8686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39319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248656" y="37673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파트너십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48656" y="411480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$300M 투자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스타트업 생태계 주도권 유지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681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전환은 Google의 기회이자 가장 큰 위협 — 검색 자기잠식 딜레마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재무 성과 — 전략 실행의 결과</a:t>
            </a:r>
            <a:endParaRPr lang="en-US" sz="2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3886200"/>
          <a:ext cx="530352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914400"/>
            <a:ext cx="1508760" cy="1188720"/>
          </a:xfrm>
          <a:prstGeom prst="rect">
            <a:avLst/>
          </a:prstGeom>
          <a:solidFill>
            <a:srgbClr val="1C2A4A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806440" y="914400"/>
            <a:ext cx="1508760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06440" y="11155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$397B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806440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2025E 예상 매출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470648" y="914400"/>
            <a:ext cx="1508760" cy="1188720"/>
          </a:xfrm>
          <a:prstGeom prst="rect">
            <a:avLst/>
          </a:prstGeom>
          <a:solidFill>
            <a:srgbClr val="1C2A4A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70648" y="914400"/>
            <a:ext cx="1508760" cy="1188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70648" y="11155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$110B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470648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2025E 예상 순이익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06440" y="2267712"/>
            <a:ext cx="1508760" cy="1188720"/>
          </a:xfrm>
          <a:prstGeom prst="rect">
            <a:avLst/>
          </a:prstGeom>
          <a:solidFill>
            <a:srgbClr val="1C2A4A"/>
          </a:solidFill>
          <a:ln w="254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06440" y="2267712"/>
            <a:ext cx="1508760" cy="1188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806440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2025E 영업이익률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470648" y="2267712"/>
            <a:ext cx="1508760" cy="1188720"/>
          </a:xfrm>
          <a:prstGeom prst="rect">
            <a:avLst/>
          </a:prstGeom>
          <a:solidFill>
            <a:srgbClr val="1C2A4A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70648" y="2267712"/>
            <a:ext cx="1508760" cy="1188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0648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5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7470648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2025E 전년 대비 성장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06440" y="3621024"/>
            <a:ext cx="1508760" cy="1188720"/>
          </a:xfrm>
          <a:prstGeom prst="rect">
            <a:avLst/>
          </a:prstGeom>
          <a:solidFill>
            <a:srgbClr val="1C2A4A"/>
          </a:solidFill>
          <a:ln w="254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06440" y="3621024"/>
            <a:ext cx="1508760" cy="1188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22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$43B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5806440" y="43982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분기 매출 돌파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470648" y="3621024"/>
            <a:ext cx="1508760" cy="1188720"/>
          </a:xfrm>
          <a:prstGeom prst="rect">
            <a:avLst/>
          </a:prstGeom>
          <a:solidFill>
            <a:srgbClr val="1C2A4A"/>
          </a:solidFill>
          <a:ln w="25400">
            <a:solidFill>
              <a:srgbClr val="FFD54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470648" y="3621024"/>
            <a:ext cx="1508760" cy="11887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0648" y="3822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21배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7470648" y="43982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대비 주가 성장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도전과 리스크 — 제국에도 아킬레스건은 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1188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독점 규제 (反트러스트)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2189" y="10698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최고 위협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DOJ, EU 등 전 세계 규제 당국 동시 소송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미 법원 "검색시장 독점" 판결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시나리오: Android·검색 사업부 강제 분리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206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4206240" cy="1188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698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검색 자기잠식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4189" y="10698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구조적 위협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356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답을 직접 제공 → 클릭·광고 수익 감소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ChatGPT·Perplexity의 검색 점유율 잠식 가속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스스로 기존 수익 모델 파괴 딜레마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D54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4206240" cy="11887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871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광고 시장 경쟁 심화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2189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중기 위협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Meta·TikTok·Amazon의 광고 플랫폼 급성장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 검색의 Amazon 이탈 (35%+ 이미 이동)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10대 이용자 유튜브 → TikTok 이동 가속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4206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D54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31720"/>
            <a:ext cx="4206240" cy="11887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871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개인정보 규제 강화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4189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중기 위협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GDPR·CCPA 등 쿠키 제한 → 광고 타겟팅 약화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Cookie 폐지 대응 전략 선회 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Sandbox 전환 불확실성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3730752"/>
            <a:ext cx="4023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0" y="3730752"/>
            <a:ext cx="4023360" cy="1188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88620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중국·지역 시장 부재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54803" y="38862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제한적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4251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시장 철수(2010) → Baidu·ByteDance 성장 허용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인도·신흥국은 현지 경쟁사 압력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글로벌 91% 점유로 실질 영향 제한적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 전략 프레임워크 종합 — Google을 해석하는 4가지 렌즈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1975104"/>
          </a:xfrm>
          <a:prstGeom prst="rect">
            <a:avLst/>
          </a:prstGeom>
          <a:solidFill>
            <a:srgbClr val="1C2A4A"/>
          </a:solidFill>
          <a:ln w="254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51960" cy="493776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78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 블루오션 전략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904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제거: 유료 검색·복잡한 포털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7647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감소: 광고 지면(초기 광고 거부)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0391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증가: 검색 정확도·속도·단순성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3134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창출: 키워드 광고(AdWords) 생태계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25877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기존 포털(야후·익사이트) 시장 외부에서 새 경쟁 공간 창조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251960" cy="1975104"/>
          </a:xfrm>
          <a:prstGeom prst="rect">
            <a:avLst/>
          </a:prstGeom>
          <a:solidFill>
            <a:srgbClr val="1C2A4A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4251960" cy="493776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978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플랫폼 전략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4904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양면시장: 사용자 ↔ 광고주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0912" y="17647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효과: 사용자↑ → 데이터↑ → 정확도↑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10912" y="20391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보조: 무료 서비스 → 광고로 수익화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10912" y="23134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Envelopment: 인접 시장 흡수 (Maps·Gmail·Drive)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10912" y="25877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진입 후 벗어나기 어려운 생태계 구축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251960" cy="1975104"/>
          </a:xfrm>
          <a:prstGeom prst="rect">
            <a:avLst/>
          </a:prstGeom>
          <a:solidFill>
            <a:srgbClr val="1C2A4A"/>
          </a:solidFill>
          <a:ln w="25400">
            <a:solidFill>
              <a:srgbClr val="FFD54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4251960" cy="493776"/>
          </a:xfrm>
          <a:prstGeom prst="rect">
            <a:avLst/>
          </a:prstGeom>
          <a:solidFill>
            <a:srgbClr val="FFD54F">
              <a:alpha val="80000"/>
            </a:srgbClr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81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💎  자원 기반 관점(RBV)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35935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역량: 데이터 처리·AI·알고리즘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38679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역량: 시장 변화에 빠른 피벗 (AI 전환)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4142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 자산: 인프라·브랜드·개발자 생태계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44165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VRIO 충족 → 지속 우위 4개 자원 확보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" y="46908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기술 역량이 전략적 포지셔닝보다 우선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251960" cy="1975104"/>
          </a:xfrm>
          <a:prstGeom prst="rect">
            <a:avLst/>
          </a:prstGeom>
          <a:solidFill>
            <a:srgbClr val="1C2A4A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4251960" cy="493776"/>
          </a:xfrm>
          <a:prstGeom prst="rect">
            <a:avLst/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081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💥  파괴적 혁신 이론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5935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시장 공략: 무료로 기존 경쟁사 하단 공략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10912" y="38679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점진적 성능 개선 → 주류 시장 진입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10912" y="4142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하위 단말기로 시작 → iOS 경쟁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10912" y="44165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내부 인프라 → 외부 판매로 진화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10912" y="46908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기존 강자가 대응 못하는 속도와 가격으로 침투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핵심 시사점 &amp; 결론 — Google에게 배우는 경영전략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275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"10%가 아닌 10배를 목표로 하라. 10배 목표가 오히려 10% 목표보다 달성하기 쉽다 — 생각하는 방법 자체가 달라지기 때문이다"  — Larry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55648"/>
            <a:ext cx="50292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1819656"/>
            <a:ext cx="1143000" cy="18288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288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FREE-FIRST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무료로 시장을 먼저 점령하라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828800"/>
            <a:ext cx="0" cy="457200"/>
          </a:xfrm>
          <a:prstGeom prst="line">
            <a:avLst/>
          </a:prstGeom>
          <a:noFill/>
          <a:ln w="12700">
            <a:solidFill>
              <a:srgbClr val="1565C0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3794760" y="1828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기반 확보가 수익보다 우선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20939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효과 → 진입장벽 자동 형성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14016"/>
            <a:ext cx="50292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32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1248" y="2478024"/>
            <a:ext cx="1143000" cy="182880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4871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41248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플라이휠 구조를 설계하라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2487168"/>
            <a:ext cx="0" cy="457200"/>
          </a:xfrm>
          <a:prstGeom prst="line">
            <a:avLst/>
          </a:prstGeom>
          <a:noFill/>
          <a:ln w="12700">
            <a:solidFill>
              <a:srgbClr val="2E7D32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3794760" y="24871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자기강화 순환 모델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27523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가속되면 경쟁사가 따라올 수 없다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7238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72384"/>
            <a:ext cx="502920" cy="6217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191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1248" y="3136392"/>
            <a:ext cx="1143000" cy="182880"/>
          </a:xfrm>
          <a:prstGeom prst="rect">
            <a:avLst/>
          </a:prstGeom>
          <a:solidFill>
            <a:srgbClr val="F9A825">
              <a:alpha val="2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1455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핵심 자산이다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0" y="3145536"/>
            <a:ext cx="0" cy="457200"/>
          </a:xfrm>
          <a:prstGeom prst="line">
            <a:avLst/>
          </a:prstGeom>
          <a:noFill/>
          <a:ln w="12700">
            <a:solidFill>
              <a:srgbClr val="F9A825"/>
            </a:solidFill>
            <a:prstDash val="sysDash"/>
          </a:ln>
        </p:spPr>
      </p:sp>
      <p:sp>
        <p:nvSpPr>
          <p:cNvPr id="32" name="Text 30"/>
          <p:cNvSpPr/>
          <p:nvPr/>
        </p:nvSpPr>
        <p:spPr>
          <a:xfrm>
            <a:off x="3794760" y="314553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제품이 아닌 데이터가 진짜 해자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94760" y="341071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26년 축적 데이터는 돈으로 살 수 없다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3075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30752"/>
            <a:ext cx="502920" cy="62179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849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41248" y="3794760"/>
            <a:ext cx="1143000" cy="182880"/>
          </a:xfrm>
          <a:prstGeom prst="rect">
            <a:avLst/>
          </a:prstGeom>
          <a:solidFill>
            <a:srgbClr val="EF5350">
              <a:alpha val="2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8039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THINK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41248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사고로 미래를 선점하라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0" y="3803904"/>
            <a:ext cx="0" cy="457200"/>
          </a:xfrm>
          <a:prstGeom prst="line">
            <a:avLst/>
          </a:prstGeom>
          <a:noFill/>
          <a:ln w="12700">
            <a:solidFill>
              <a:srgbClr val="EF5350"/>
            </a:solidFill>
            <a:prstDash val="sysDash"/>
          </a:ln>
        </p:spPr>
      </p:sp>
      <p:sp>
        <p:nvSpPr>
          <p:cNvPr id="41" name="Text 39"/>
          <p:cNvSpPr/>
          <p:nvPr/>
        </p:nvSpPr>
        <p:spPr>
          <a:xfrm>
            <a:off x="3794760" y="380390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Waymo·DeepMind·Cloud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94760" y="40690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수익과 무관한 미래 투자가 성장 엔진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38912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4389120"/>
            <a:ext cx="502920" cy="6217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507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41248" y="4453128"/>
            <a:ext cx="1143000" cy="182880"/>
          </a:xfrm>
          <a:prstGeom prst="rect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4462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NOW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41248" y="4681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위기는 전략 전환의 기회다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0" y="4462272"/>
            <a:ext cx="0" cy="457200"/>
          </a:xfrm>
          <a:prstGeom prst="line">
            <a:avLst/>
          </a:prstGeom>
          <a:noFill/>
          <a:ln w="12700">
            <a:solidFill>
              <a:srgbClr val="42A5F5"/>
            </a:solidFill>
            <a:prstDash val="sysDash"/>
          </a:ln>
        </p:spPr>
      </p:sp>
      <p:sp>
        <p:nvSpPr>
          <p:cNvPr id="50" name="Text 48"/>
          <p:cNvSpPr/>
          <p:nvPr/>
        </p:nvSpPr>
        <p:spPr>
          <a:xfrm>
            <a:off x="3794760" y="44622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검색 위협 → AI 최강 기업으로 전환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794760" y="47274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파괴(Self-Disruption)가 최선의 방어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E7D32">
              <a:alpha val="18000"/>
            </a:srgbClr>
          </a:solidFill>
          <a:ln w="12700">
            <a:solidFill>
              <a:srgbClr val="2E7D3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F9A825">
              <a:alpha val="18000"/>
            </a:srgbClr>
          </a:solidFill>
          <a:ln w="12700">
            <a:solidFill>
              <a:srgbClr val="F9A825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84448" y="1298448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29844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5152" y="1298448"/>
            <a:ext cx="402336" cy="40233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5504" y="1298448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BDD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 &amp;  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0" y="4251960"/>
            <a:ext cx="36576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4352544"/>
            <a:ext cx="36576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4453128"/>
            <a:ext cx="36576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553712"/>
            <a:ext cx="36576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경영전략  |  Google (Alphabet Inc.) 경영전략 심층 분석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1822</Words>
  <Application>Microsoft Office PowerPoint</Application>
  <PresentationFormat>화면 슬라이드 쇼(16:9)</PresentationFormat>
  <Paragraphs>376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경영전략 성공사례 심층 분석</dc:title>
  <dc:subject>PptxGenJS Presentation</dc:subject>
  <dc:creator>PptxGenJS</dc:creator>
  <cp:lastModifiedBy>원재 이</cp:lastModifiedBy>
  <cp:revision>1</cp:revision>
  <dcterms:created xsi:type="dcterms:W3CDTF">2026-03-18T16:03:01Z</dcterms:created>
  <dcterms:modified xsi:type="dcterms:W3CDTF">2026-03-23T09:32:27Z</dcterms:modified>
</cp:coreProperties>
</file>