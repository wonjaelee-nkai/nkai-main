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4864" cy="5943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Profile™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예측 AI 플랫폼  ·  IR 피치덱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530352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690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행동이 쌓이면 예측이 되고,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622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예측이 쌓이면 인생이 됩니다.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4건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59536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274320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9536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수집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384048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9536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NRA 내러티브 복원율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493776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595360" y="5468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전영역 실무 경력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2179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Neurin Kairos AI Inc.  ·  뉴린카이로스에이아이(주)  ·  2026.03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문제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사람의 행동엔 패턴이 있습니다.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근데 아무도 60분 전에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알려주지 않았습니다.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6344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6344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9224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솔루션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9224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한 장, 배달 한 건이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행동을 예측합니다.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4건으로 설계한 Living Profile™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5488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5488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8368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시장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8368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멘탈헬스 600조 + AI개인화 400조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교차점, 아직 아무도 없습니다.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2026 — 타이밍 지금입니다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 경쟁우위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20년 · DB TM 3년 70억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FDS 3년반 → 행동예측 AI 전환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 + 상표 3건 방어선 완성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76344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76344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9224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59224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엔젤·시드 투자자 연결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 500~1,000만원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파트너십 (금융·헬스케어)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5488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95488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8368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PoC 결과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8368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52→78, 50% 상승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복원율(NRA) 97.0%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PoC 완료 (2025.09~2026.03) · 510건 · 행동법칙 11개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인생은 세 번입니다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05784" cy="438912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태어나다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3148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고른 것이 아닌 것들.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기질, DNA, 자란 환경.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그것이 나의 출발선이고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N-Kai의 첫 번째 좌표입니다.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212080"/>
            <a:ext cx="3148584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257800"/>
            <a:ext cx="3011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: 당신이 가진 것부터 읽습니다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1584" y="1554480"/>
            <a:ext cx="3605784" cy="4389120"/>
          </a:xfrm>
          <a:prstGeom prst="rect">
            <a:avLst/>
          </a:prstGeom>
          <a:solidFill>
            <a:srgbClr val="1A223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018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0184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0184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살아가다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0184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0184" y="3200400"/>
            <a:ext cx="3148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살면서 쌓이는 선택들.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어제의 패턴이 오늘을 만들고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오늘이 내일을 만듭니다.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N-Kai는 60분 먼저 압니다.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0184" y="5212080"/>
            <a:ext cx="3148584" cy="347472"/>
          </a:xfrm>
          <a:prstGeom prst="rect">
            <a:avLst/>
          </a:prstGeom>
          <a:solidFill>
            <a:srgbClr val="0F2A1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1624" y="5257800"/>
            <a:ext cx="3011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: 60분 전, 이미 알고 있습니다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25968" y="1554480"/>
            <a:ext cx="3605784" cy="438912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456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54568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354568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남기다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54568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4568" y="3200400"/>
            <a:ext cx="3148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없어도 남는 것.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살아온 방식, 선택의 흔적.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데이터가 다음 사람의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내비게이션이 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54568" y="5212080"/>
            <a:ext cx="3148584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6008" y="5257800"/>
            <a:ext cx="3011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: 삶을 흘려보내지 않습니다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4건 — 기술 방어선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8147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엔진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진화형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카이로스 페르소나 엔진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Evolving Kairos Persona Engine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태어난 기질(사주)과 살면서 쌓인 성향을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읽어 16형 DNA를 만듭니다.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Living Profile의 시작입니다.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베이지안 추론 (동적 갱신)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ROC 임계치 보정 (T-60 경보)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비지도학습 군집화 (4그룹 × 16아키타입)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Neural CDE 시계열 시뮬레이션 (범용 기술 적용)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특허-2025-0156080 (심사청구 완료)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21558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1558" y="1417320"/>
            <a:ext cx="268147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4438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15918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엔진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4438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기질 분석 기반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관계 매칭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4438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Relationship Matching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04438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4438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유형끼리 왜 충돌하는지,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유형이 왜 잘 맞는지를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보여줍니다.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8718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4438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04438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아키타입 벡터 유사도 분석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기질 충돌/공명 지수 산출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관계 적합도 스코어링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군집 기반 매칭 최적화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58718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85916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5916" y="1417320"/>
            <a:ext cx="2681478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8796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80276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웰니스 엔진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68796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아키타입 분석 기반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웰니스 추천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68796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Wellness Recommendation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68796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8796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축으로 지금 내 상태를 읽고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사람에게 맞는 루틴을 제안합니다.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남의 방법을 따라하지 않아도 됩니다.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23076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8796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68796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9축 웰니스 상태벡터 h(t) 갱신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개인화 추천 모델 학습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행동 패턴 이탈 탐지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N-Score 실시간 산출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23076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50274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0274" y="1417320"/>
            <a:ext cx="268147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3154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644634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엔진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33154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변수 분석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 학습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33154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Multidimensional Variable AI Feedback Learning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33154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3154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쓸수록 나에게 더 맞아갑니다.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어제 틀렸다면 오늘은 더 정확해집니다.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타이밍까지 추천하는 이유입니다.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187434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3154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233154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다차원 변수 가중 융합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 피드백 학습 루프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개인화 예측 모델 진화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Neural CDE 기반 진화 예측 (오픈소스 기술)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187434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법이 시장을 만들었습니다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3636264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2026.01 시행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한국, 세계 최초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856232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투명성 확보 의무(§31) — 설명 가능 AI 필수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85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안전성 확보 의무(§32) — 위험도 평가 필수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고영향 AI 규제(§33~35) — 프라이버시 금지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43784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2027년~ 과태료 3,000만 · 영업정지 가능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6344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6344" y="1078992"/>
            <a:ext cx="36362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9224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시장 규모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59224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선점자 우위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59224" y="1828800"/>
            <a:ext cx="3316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1,000조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459224" y="2404872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멘탈헬스 시장 600조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59224" y="2606040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개인화 시장 400조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59224" y="2807208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기업 98% 대응체계 미비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59224" y="3008376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교차점에 경쟁자 없음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95488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5488" y="1078992"/>
            <a:ext cx="36362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8368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선례: 법이 유니콘을 만든다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78368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→ 필수화 패턴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78368" y="1856232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GDPR → OneTrust 유니콘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8368" y="2185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SOX법 → 컴플라이언스 SaaS 수조원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8368" y="2514600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PCI-DSS → FDS 시장 창출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8368" y="2843784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AI기본법 → N-Kai 포지션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502152"/>
            <a:ext cx="5545836" cy="1783080"/>
          </a:xfrm>
          <a:prstGeom prst="rect">
            <a:avLst/>
          </a:prstGeom>
          <a:solidFill>
            <a:srgbClr val="FFF8E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39312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타이밍: 지금이 골든윈도우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069080"/>
            <a:ext cx="5225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→ 기업 적응 기간 12~24개월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 선출원 완료 — 후발주자 진입 장벽 완성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LOI 협의 중 — 금융권 실증 기회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5916" y="3502152"/>
            <a:ext cx="5545836" cy="1783080"/>
          </a:xfrm>
          <a:prstGeom prst="rect">
            <a:avLst/>
          </a:prstGeom>
          <a:solidFill>
            <a:srgbClr val="F0FDF4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3639312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 글로벌 확장성: 아시아 8개국 로드맵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68796" y="4069080"/>
            <a:ext cx="5225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PoC → 일본 미니엔진(2026 Q4) → 홍콩·싱가폴 B2B(2027 Q2)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3개국 미은행 인구 3~4억명 · 중국 八字 AI 붐 · 아시아 8개국 순차 확장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동일 엔진 · 시장별 현지화 — 수직 확장 무제한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앱이 아닙니다. SDK입니다.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303520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B2B 수익 구조 — 2-Track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엔진 라이선스 월정액 — N-KAI 엔진 사용권 구독료 (가정치 협의 중)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API 호출당 ₩20 고정과금 — 거래 1건 = 1 call = ₩20 (가정치, 협의 후 확정)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700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PSP 거래 수수료(거래금액×%) 모델과 완전히 다름. 거래금액 무관.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카드사 앱 탑재 → 보이스피싱 차단 엔진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헬스케어 앱 탑재 → 번아웃 경보 시스템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금융사 탑재 → 행동 기반 신용평가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572768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901952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₩300만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0760" y="2414016"/>
            <a:ext cx="1578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 · 1사당 (가정치)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80760" y="265176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중소 핀테크 10사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시장침투 목표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933944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1104" y="1572768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71104" y="1901952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₩1,000만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71104" y="2414016"/>
            <a:ext cx="1578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 · 1사당 (가정치)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71104" y="265176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TOP금융사 3사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롯데·신한·삼성생명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924288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61448" y="1572768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61448" y="1901952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협의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61448" y="2414016"/>
            <a:ext cx="1578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1사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61448" y="265176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은행지주·일본파트너</a:t>
            </a:r>
            <a:endParaRPr lang="en-US" sz="8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계약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88620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434840"/>
            <a:ext cx="268147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LOI 체결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PoC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21558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21558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8718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58718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58718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SDK 출시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KISA 과제 참여 추진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보이스피싱 예측 레이어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85916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5916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3076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23076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23076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시드 라운드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3명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5호 출원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50274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0274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7434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87434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87434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미니엔진 MVP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HK·SG B2B 접촉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준비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 자가 실증 데이터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2695194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기간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2025.09.11 법인설립~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6986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6986" y="1143000"/>
            <a:ext cx="2695194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9866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77점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499866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(최종)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9866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52점 → +48%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6772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6772" y="1143000"/>
            <a:ext cx="269519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9652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59652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NRA 복원율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9652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복원 일관성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36558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36558" y="1143000"/>
            <a:ext cx="2695194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9438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510건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219438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거래 분석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19438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패턴 원천 데이터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606040"/>
            <a:ext cx="5545836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606040"/>
            <a:ext cx="5545836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15768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4대 알고리즘 검증 결과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" y="3154680"/>
            <a:ext cx="5225796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209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베이지안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209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22회 갱신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3209544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사후확률 0.99+ 달성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" y="3529584"/>
            <a:ext cx="522579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584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임계치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23160" y="3584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 초과 22회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3584448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T-60 경고 전원 적중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" y="3904488"/>
            <a:ext cx="5225796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959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23160" y="3959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 C8~C12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3959352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5극 DNA 완전 분화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" y="4279392"/>
            <a:ext cx="522579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334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CDE 엔진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23160" y="4334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궤적 완성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0" y="4334256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드리프트 포착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85916" y="2606040"/>
            <a:ext cx="5545836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5916" y="2606040"/>
            <a:ext cx="554583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8796" y="2715768"/>
            <a:ext cx="5225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6개월간 발견된 행동법칙 11개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368796" y="3054096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좌: 식품·소비 행동 6건   /   우: 시간·패턴 행동 5건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23076" y="3273552"/>
            <a:ext cx="2498598" cy="242316"/>
          </a:xfrm>
          <a:prstGeom prst="rect">
            <a:avLst/>
          </a:prstGeom>
          <a:solidFill>
            <a:srgbClr val="F0F9FF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23076" y="3273552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4516" y="3310128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크레이빙 3일 포화 — 3일 연속 동일 메뉴 후 전환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23076" y="3534156"/>
            <a:ext cx="2498598" cy="242316"/>
          </a:xfrm>
          <a:prstGeom prst="rect">
            <a:avLst/>
          </a:prstGeom>
          <a:solidFill>
            <a:srgbClr val="F8FAFC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3076" y="3534156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4516" y="3570732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충족 의도 — 카테고리 크로스오버 패턴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23076" y="3794760"/>
            <a:ext cx="2498598" cy="242316"/>
          </a:xfrm>
          <a:prstGeom prst="rect">
            <a:avLst/>
          </a:prstGeom>
          <a:solidFill>
            <a:srgbClr val="F0F9FF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3076" y="3794760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4516" y="3831336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자기교정 — ROC 경고 후 3분 내 수정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23076" y="4055364"/>
            <a:ext cx="2498598" cy="242316"/>
          </a:xfrm>
          <a:prstGeom prst="rect">
            <a:avLst/>
          </a:prstGeom>
          <a:solidFill>
            <a:srgbClr val="F8FAFC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3076" y="4055364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14516" y="4091940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음주 복귀 — 금주 후 재음주 시 클러스터 이동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323076" y="4315968"/>
            <a:ext cx="2498598" cy="242316"/>
          </a:xfrm>
          <a:prstGeom prst="rect">
            <a:avLst/>
          </a:prstGeom>
          <a:solidFill>
            <a:srgbClr val="F0F9FF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23076" y="4315968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4516" y="4352544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유제품 보충 — 매운 식사 후 유제품 필수 보충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323076" y="4576572"/>
            <a:ext cx="2498598" cy="242316"/>
          </a:xfrm>
          <a:prstGeom prst="rect">
            <a:avLst/>
          </a:prstGeom>
          <a:solidFill>
            <a:srgbClr val="F8FAFC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23076" y="4576572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14516" y="4613148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무료식사 — 외식 빈도 40% 감소 패턴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913114" y="3273552"/>
            <a:ext cx="2498598" cy="242316"/>
          </a:xfrm>
          <a:prstGeom prst="rect">
            <a:avLst/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13114" y="3273552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04554" y="3310128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야간 과소비 — 22시 이후 충동구매 +67%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913114" y="3534156"/>
            <a:ext cx="2498598" cy="242316"/>
          </a:xfrm>
          <a:prstGeom prst="rect">
            <a:avLst/>
          </a:prstGeom>
          <a:solidFill>
            <a:srgbClr val="FFFBF5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13114" y="3534156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04554" y="3570732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 리셋 — 월요일이 주중 예측 기준점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913114" y="3794760"/>
            <a:ext cx="2498598" cy="242316"/>
          </a:xfrm>
          <a:prstGeom prst="rect">
            <a:avLst/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13114" y="3794760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004554" y="3831336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스트레스 대체 — 고단가 식사 후 구매욕 감소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913114" y="4055364"/>
            <a:ext cx="2498598" cy="242316"/>
          </a:xfrm>
          <a:prstGeom prst="rect">
            <a:avLst/>
          </a:prstGeom>
          <a:solidFill>
            <a:srgbClr val="FFFBF5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13114" y="4055364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04554" y="4091940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커피 전환 — 아메리카노→라떼 = 에너지 저점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8913114" y="4315968"/>
            <a:ext cx="2498598" cy="242316"/>
          </a:xfrm>
          <a:prstGeom prst="rect">
            <a:avLst/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13114" y="4315968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04554" y="4352544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단축 — 배달 빈도↑ 시 외출 의욕 저하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57200" y="477316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업종별 MCC I/C 가중치 — 음수(-) 포함 전체 구조 (투자자·파트너 공개)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457200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7200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4632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의료·헬스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84632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2.00×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84632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건강투자 최고신호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1396746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96746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24178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보험·저축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1424178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1.80×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424178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금융책임성 증명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2336292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36292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63724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스포츠·운동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2363724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1.50×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2363724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신체활동=미래의료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3275838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75838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303270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IT서비스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303270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1.50×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3303270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 행동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4215384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15384" y="5029200"/>
            <a:ext cx="90297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42816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약국·드럭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242816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1.45×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242816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예방건강 투자층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5154930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154930" y="5029200"/>
            <a:ext cx="90297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82362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식비(외식)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5182362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1.30×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5182362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크레이빙 핵심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6094476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94476" y="5029200"/>
            <a:ext cx="90297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121908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카페·음료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21908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1.10×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6121908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루틴·에너지신호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7034022" y="5029200"/>
            <a:ext cx="90297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34022" y="5029200"/>
            <a:ext cx="90297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061454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현금서비스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061454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-2.0×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7061454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재무위기 직접신호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7973568" y="5029200"/>
            <a:ext cx="90297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73568" y="5029200"/>
            <a:ext cx="90297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001000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카드론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8001000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-1.8×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8001000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단기대출 위험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913114" y="5029200"/>
            <a:ext cx="90297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913114" y="5029200"/>
            <a:ext cx="90297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940546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리볼빙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8940546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-1.5×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8940546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과소비 패턴 지속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9852660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852660" y="5029200"/>
            <a:ext cx="90297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880092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유흥·주점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9880092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0.55×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9880092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충동성 감점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10792206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792206" y="5029200"/>
            <a:ext cx="90297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819638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10819638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0.95×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10819638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루틴 보조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457200" y="5724144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v8 설계원칙: 식비↔배달 분리(배달 0.85×별도), 카페 1.1×(1인과적합보정), 교통 0.95×(중립화). MCC=지출분류가 아닌 성격진화 연료. 음수(−)=재무위기 직접신호.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457200" y="5943600"/>
            <a:ext cx="11274552" cy="804672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57200" y="5943600"/>
            <a:ext cx="54864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85800" y="6099048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'데이터를 쌓는 앱'이 아닙니다. 데이터를 읽어 당신의 다음 선택을 예측하는 엔진입니다.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팀과 지식재산권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00" cy="320040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3200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 ·  Founder &amp; CEO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993392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IP 전략가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2311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Profile™ 설계 · 특허 4건 + 상표 3건 직접 출원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505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특허 펜스 전략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27249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특허법인 이석기 변리사 협업 · 심사청구 완료(특허①) · 전건 2025.10 동시 출원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29992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행동예측 AI 설계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2186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FDS 3.5년 → Living Profile 엔진 직접 설계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4930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2025.09 법인 창업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7124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직후 선출원 완료 · Sprint 특허법인 이석기 변리사 협업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4건 × 상표 3건 — 후발주자 진입 불가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심사청구 완료(특허①) · 전건 2025.10 동시 출원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카이로스 페르소나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62088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699248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관계 매칭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99248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97696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97696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34856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웰니스 추천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34856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433304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33304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70464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570464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 학습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570464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754880"/>
            <a:ext cx="11274552" cy="804672"/>
          </a:xfrm>
          <a:prstGeom prst="rect">
            <a:avLst/>
          </a:prstGeom>
          <a:solidFill>
            <a:srgbClr val="0D1A0D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75488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828032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IP 포트폴리오 완성  —  특허 4건 + 상표 3건  =  총 7건  ·  후발주자 진입 장벽 구축 완료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5800" y="5157216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펜스 전략 설계 완료  ·  Sprint 특허법인 이석기 변리사 협업  ·  2025.10 전건 동시 출원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교차점에 아직 아무도 없습니다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28800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MBTI/심리검사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7438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8878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08876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0316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심리상담 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70314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1754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481328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5636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 분석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1865376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47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행동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249424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331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(T-60)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157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프라이버시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9981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방어선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83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SDK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0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있음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0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0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서버 저장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0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0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불가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47438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8878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47438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8878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신체만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47438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8878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47438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8878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클라우드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47438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8878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AI행동특허없음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47438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8878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제한적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008876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0316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제한적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08876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00316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008876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00316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008876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00316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상담사 공유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008876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00316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008876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00316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불가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370314" y="1481328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1754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선천 기질 DNA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370314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61754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카드+행동 실시간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70314" y="2249424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61754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60분 전 경고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370314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61754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온디바이스 처리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370314" y="3017520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61754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4건 출원완료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370314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1754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SDK 핵심 전략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57200" y="392277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N-Kai만이 기질 × 실시간 행동 × 예측을 융합한 유일한 플레이어입니다.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4334256"/>
            <a:ext cx="3636264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특허 방어선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40080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4건 출원 완료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대기업도 우회 불가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후발주자 진입 비용 무한대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276344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76344" y="4334256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59224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선점자 효과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4459224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직후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컴플라이언스 의무화 타이밍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형성 전 포지션 선점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095488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95488" y="4334256"/>
            <a:ext cx="3636264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78368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단일 플레이어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8278368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기질+행동+예측 융합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유일한 조합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SDK 즉시 배포 가능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기술이 왜 이 사람에게서 나왔는가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858000" cy="329184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32918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 ·  Founder &amp; CEO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039112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6712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롯데카드 20년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386584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· 채권 · 마케팅 · 라이프 신사업 · 할부금융 — 금융 全영역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64261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신사업 상조제휴 사업 (대표 성과)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2862072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상조사 제휴 신사업 설계 · 170명 상담사 운영 · O/B TM · 3년간 영업이익 70억 달성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11810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채권관리 · FDS 전문가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채권우수팀장 다수 역임 · FDS 3.5년 이상거래탐지 → 행동예측 AI 전환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59359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폐암 수술(2022.09) · 투병 중 창업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81304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설계 → 2025.09 법인설립 · 특허 4건 · 2027.09 완치 판정 예정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"45년간 아무도 방향을 안 잡아줬기 때문에,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직접 내비게이터를 만들기로 했습니다."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1417320"/>
            <a:ext cx="4187952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6002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26680" y="2039112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2219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엔젤·시드 투자자 연결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26680" y="251460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+ SDK 상용화 런웨이 확보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281635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26680" y="310896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500~1,000만원 · 첫 번째 수익 레퍼런스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26680" y="341071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파트너십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26680" y="370332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금융사·헬스케어·통신사 LOI 연결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26680" y="400507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바우처·정부과제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26680" y="429768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특허⑤ 출원 + 초창팩 연계 지원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11274552" cy="1097280"/>
          </a:xfrm>
          <a:prstGeom prst="rect">
            <a:avLst/>
          </a:prstGeom>
          <a:solidFill>
            <a:srgbClr val="1A1A2E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92040"/>
            <a:ext cx="54864" cy="10972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05663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남이 나를 어떻게 보느냐가 아니라, 내가 나를 어떻게 보느냐.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그것이 우리 기술이고, 철학이고, 존재 이유입니다.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86800" y="5029200"/>
            <a:ext cx="3044952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5093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가지만 부탁드립니다.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0" y="5422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cpo@neurinkairosai.ai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08076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 ·  Life is 3 Times  ·  cpo@neurinkairosai.ai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🌏  글로벌 확장 로드맵  — Asia-First Strategy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SDK × 8개국 순차 진출 · TAM $1.2T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21031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현재 진행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078992"/>
            <a:ext cx="4434840" cy="42062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133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  ·  2027 Q1  (일본 선제 진출)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52360" y="1078992"/>
            <a:ext cx="4279392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3385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  ·  2027 Q2~  (HK·SG B2B)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00200"/>
            <a:ext cx="21031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🇰🇷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2688" y="1920240"/>
            <a:ext cx="3840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50800" dir="2700000">
              <a:srgbClr val="0D9488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268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331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실증 6개월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N-Score 78 (+50%)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NRA 97.0%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카드 510건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롯데카드 LOI → 상용화 기반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8892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88920" y="1600200"/>
            <a:ext cx="210312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8036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🇯🇵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64408" y="1920240"/>
            <a:ext cx="384048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76200" dist="50800" dir="2700000">
              <a:srgbClr val="D4AF37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6440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8503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88036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미니엔진 MVP — 일본 선제 진출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8036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점성술 앱 CAGR 20%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036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특허③④ 직접 적합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8036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규제장벽 최소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8036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5351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행동예측+운세 융합 신장르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2~3축 경량 MVP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2064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20640" y="1600200"/>
            <a:ext cx="210312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9379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1208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🇮🇩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596128" y="1920240"/>
            <a:ext cx="384048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76200" dist="50800" dir="2700000">
              <a:srgbClr val="D4AF37">
                <a:alpha val="4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9612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1675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3개국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인도네시아·베트남·필리핀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208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미은행 인구 3~4억명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1208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핀테크 급성장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1208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모바일 퍼스트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1208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8523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 기반 대안 신용평가 SDK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5236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452360" y="1600200"/>
            <a:ext cx="21031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2551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54380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🇭🇰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927848" y="1920240"/>
            <a:ext cx="38404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50800" dir="2700000">
              <a:srgbClr val="22C55E">
                <a:alpha val="4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92784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34847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홍콩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54380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레퍼런스 이후 진입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54380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4380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AI 수용률 52%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54380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디지털 자산관리 93%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54380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크로스보더 1위 전망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54380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1695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UHNW 행동기반 자산관리 레이어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555480" y="1600200"/>
            <a:ext cx="2176272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9555480" y="1600200"/>
            <a:ext cx="217627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28632" y="16276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64692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🇸🇬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0030968" y="1920240"/>
            <a:ext cx="38404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50800" dir="2700000">
              <a:srgbClr val="22C55E">
                <a:alpha val="4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003096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451592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싱가폴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9646920" y="22585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아시아 B2B 거점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646920" y="2496312"/>
            <a:ext cx="199339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46920" y="258775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디지털 자산관리 85%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646920" y="2990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MAS 샌드박스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9646920" y="339242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패밀리오피스 급증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9646920" y="3867912"/>
            <a:ext cx="199339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720072" y="3941064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아시아 전체 영업 거점 확보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57200" y="5010912"/>
            <a:ext cx="11274552" cy="566928"/>
          </a:xfrm>
          <a:prstGeom prst="rect">
            <a:avLst/>
          </a:prstGeom>
          <a:solidFill>
            <a:srgbClr val="1A0A0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" y="5010912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" y="50749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 Phase 3 (2028+)  ·  중국: 八字 AI 붐 폭발 · 판멘탈헬스 시장 ¥104억(약 2조원)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640080" y="5321808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전략: 홍콩 GBA 경유 간접 진출 · '행동과학 AI 웰니스' 포지셔닝 (운세 앱 규제 회피) · 동남아 행동 신용평가 레버리지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🇯🇵  Japan Mini-Engine MVP  — Phase 2-A 일본 선제 진출 전략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9축 → 3축 경량화  ·  특허③④ 직접 적용  ·  B2C Freemium → B2B 데이터 레버리지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5303520" cy="4041648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78992"/>
            <a:ext cx="54864" cy="40416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16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탑재 축 선택  —  9축 중 3축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591056"/>
            <a:ext cx="49377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70078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700784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77393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 소비 행동 DNA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202082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 행동 패턴 분석  ·  특허① 카이로스 페르소나 엔진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223113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데이터 기반 — 한국 6개월 실증 510건 완료. 일본 전자결제 데이터와 직결. 행동 지문 생성 핵심축.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9806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98064"/>
            <a:ext cx="45720" cy="9875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87121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 타이밍 예측 (골든타임)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11810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골든타임 예측  ·  특허① 카이로스 페르소나 엔진 (ROC 임계치 내장)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" y="332841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점성술 핵심 니즈 = '언제 행동하면 좋은가'. 행동 패턴 기반 골든타임 계산 → 일본 점성술 앱과 직접 연결. 차별화 최강 포인트.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89534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95344"/>
            <a:ext cx="45720" cy="9875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96849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9  개인화 행운 숫자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421538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타이밍 예측  ·  특허④ AI 피드백 학습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" y="442569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궤적 자기진화 + 타이밍 예측 엔진. 생년월일+행동데이터 기반 패턴 산출. 일본 MZ세대 니즈와 정합. 월 구독 전환율 최고.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1078992"/>
            <a:ext cx="5742432" cy="1901952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078992"/>
            <a:ext cx="54864" cy="1901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1887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💴  수익 모델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1554480"/>
            <a:ext cx="5376672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158191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기본 DNA 지문만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1956816"/>
            <a:ext cx="5376672" cy="347472"/>
          </a:xfrm>
          <a:prstGeom prst="rect">
            <a:avLst/>
          </a:prstGeom>
          <a:solidFill>
            <a:srgbClr val="0F2A1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780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¥980/월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8160" y="198424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3축 풀 + 골든타임 알림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2359152"/>
            <a:ext cx="5376672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386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2386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¥1,980/월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238658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보고서 +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89320" y="2798064"/>
            <a:ext cx="5742432" cy="306324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2798064"/>
            <a:ext cx="54864" cy="2999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907792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실행 타임라인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72200" y="3273552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33101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90488" y="3547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04888" y="3383280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현지화 파트너 탐색 · 3축 엔진 경량화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3895344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3931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90488" y="41696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104888" y="4005072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앱스토어 출시 (JP) · MAU 축적 시작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200" y="4517136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0488" y="45537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190488" y="47914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104888" y="4626864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전환 · 행동 데이터 DB 완성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72200" y="5138928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51755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90488" y="541324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레버리지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104888" y="5248656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MAU → HK·SG B2B 영업 실탄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5943600"/>
            <a:ext cx="11274552" cy="530352"/>
          </a:xfrm>
          <a:prstGeom prst="rect">
            <a:avLst/>
          </a:prstGeom>
          <a:solidFill>
            <a:srgbClr val="1A1A0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6062472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전략 로직  :  일본 MAU × 행동 데이터 = 홍콩·싱가폴 B2B 영업의 이중 레퍼런스  →  Series A 투자 설득력 2배 상승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Pre-Seed 투자 유치  —  3억~5억원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상용화 런웨이 18개월 확보  ·  첫 번째 수익 계약 → 롯데카드 LOI → Series A 브릿지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605784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3605784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789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3억~5억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목표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유치 금액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1584" y="914400"/>
            <a:ext cx="3605784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1584" y="914400"/>
            <a:ext cx="360578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4464" y="10789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18개월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74464" y="157276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런웨이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4464" y="182880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확보 기간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25968" y="914400"/>
            <a:ext cx="3605784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5968" y="914400"/>
            <a:ext cx="360578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8848" y="10789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 Q1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08848" y="157276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브릿지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08848" y="182880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Round 목표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6583680" cy="3986784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240280"/>
            <a:ext cx="54864" cy="398678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3774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 Use of Funds  —  투자금 사용 계획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2761488"/>
            <a:ext cx="6217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862072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862072"/>
            <a:ext cx="45720" cy="78638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29352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81328" y="2935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 ·  약 1.5~2.2억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481328" y="326440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 1명 + 사업개발 1명 채용 (18개월 인건비)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내재화 — SDK 상용화 실행력 확보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703320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703320"/>
            <a:ext cx="45720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3776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481328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상용화 개발  ·  약 1.0~1.8억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481328" y="410565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API 고도화 + 일본 미니엔진 MVP 개발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인프라 구축 · 보안·컴플라이언스 대응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544568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44568"/>
            <a:ext cx="45720" cy="7863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481328" y="4617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영업·마케팅  ·  약 0.4~0.6억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481328" y="4946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LOI → 기술자문 500~1,000만원 레퍼런스 확보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파트너십 미팅·데모데이·IR 활동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5385816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5385816"/>
            <a:ext cx="45720" cy="7863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" y="5458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481328" y="5458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특허·법무·운영  ·  약 0.2~0.4억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481328" y="578815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특허⑤ 출원 (IP 바우처 활용 병행) · 법인 운영 고정비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회계·세무·컴플라이언스 비용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69480" y="2240280"/>
            <a:ext cx="4462272" cy="3986784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2240280"/>
            <a:ext cx="54864" cy="39867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237744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투자 근거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52360" y="2761488"/>
            <a:ext cx="409651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52360" y="2862072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2953512"/>
            <a:ext cx="329184" cy="292608"/>
          </a:xfrm>
          <a:prstGeom prst="ellipse">
            <a:avLst/>
          </a:prstGeom>
          <a:solidFill>
            <a:srgbClr val="D4AF37">
              <a:alpha val="9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891272" y="292608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방어선 완성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91272" y="317296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4건+상표 3건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7건 선출원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후발주자 차단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52360" y="3703320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25512" y="3794760"/>
            <a:ext cx="329184" cy="292608"/>
          </a:xfrm>
          <a:prstGeom prst="ellipse">
            <a:avLst/>
          </a:prstGeom>
          <a:solidFill>
            <a:srgbClr val="00C9A7">
              <a:alpha val="9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891272" y="376732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보유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891272" y="401421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PoC 완료 (2025.09~2026.03)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510건 카드 데이터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 97.0% 일관성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452360" y="4544568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25512" y="4636008"/>
            <a:ext cx="329184" cy="292608"/>
          </a:xfrm>
          <a:prstGeom prst="ellipse">
            <a:avLst/>
          </a:prstGeom>
          <a:solidFill>
            <a:srgbClr val="E07B39">
              <a:alpha val="9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891272" y="4608576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계약 임박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891272" y="485546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LOI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협의 진행 중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수익 예상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452360" y="5385816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25512" y="5477256"/>
            <a:ext cx="329184" cy="292608"/>
          </a:xfrm>
          <a:prstGeom prst="ellipse">
            <a:avLst/>
          </a:prstGeom>
          <a:solidFill>
            <a:srgbClr val="6366F1">
              <a:alpha val="9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🌏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891272" y="544982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로드맵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891272" y="569671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일본→HK·SG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아시아 8개국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동일 엔진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" y="6236208"/>
            <a:ext cx="11274552" cy="502920"/>
          </a:xfrm>
          <a:prstGeom prst="rect">
            <a:avLst/>
          </a:prstGeom>
          <a:solidFill>
            <a:srgbClr val="1A1A0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6236208"/>
            <a:ext cx="54864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634593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지금이 골든윈도우입니다  ·  AI기본법 시행 + 특허 방어선 완성 + 롯데카드 LOI 진행 중  —  Pre-Seed 라운드 오픈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2026-03-08T16:31:43Z</dcterms:created>
  <dcterms:modified xsi:type="dcterms:W3CDTF">2026-03-08T16:31:43Z</dcterms:modified>
</cp:coreProperties>
</file>