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645920"/>
            <a:ext cx="5029200" cy="5029200"/>
          </a:xfrm>
          <a:prstGeom prst="ellipse">
            <a:avLst/>
          </a:prstGeom>
          <a:solidFill>
            <a:srgbClr val="1B4FD8">
              <a:alpha val="8000"/>
            </a:srgbClr>
          </a:solidFill>
          <a:ln w="12700">
            <a:solidFill>
              <a:srgbClr val="1B4FD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548640"/>
            <a:ext cx="2926080" cy="2926080"/>
          </a:xfrm>
          <a:prstGeom prst="ellipse">
            <a:avLst/>
          </a:prstGeom>
          <a:solidFill>
            <a:srgbClr val="D4A017">
              <a:alpha val="10000"/>
            </a:srgbClr>
          </a:solidFill>
          <a:ln w="12700">
            <a:solidFill>
              <a:srgbClr val="D4A01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N-KAI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Profile™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54203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 예측 AI 플랫폼  ·  IR 피치덱  ·  Pre-Seed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502920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ysDash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행동이 쌓이면 예측이 되고,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54787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예측이 쌓이면 인생이 됩니다.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32320" y="411480"/>
            <a:ext cx="1828800" cy="987552"/>
          </a:xfrm>
          <a:prstGeom prst="rect">
            <a:avLst/>
          </a:prstGeom>
          <a:solidFill>
            <a:srgbClr val="122040"/>
          </a:solidFill>
          <a:ln w="19050">
            <a:solidFill>
              <a:srgbClr val="1B4F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0" y="411480"/>
            <a:ext cx="1828800" cy="109728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566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4F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4건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132320" y="1069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출원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0" y="1527048"/>
            <a:ext cx="1828800" cy="987552"/>
          </a:xfrm>
          <a:prstGeom prst="rect">
            <a:avLst/>
          </a:prstGeom>
          <a:solidFill>
            <a:srgbClr val="122040"/>
          </a:solidFill>
          <a:ln w="19050">
            <a:solidFill>
              <a:srgbClr val="00B8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0" y="1527048"/>
            <a:ext cx="1828800" cy="109728"/>
          </a:xfrm>
          <a:prstGeom prst="rect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16824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520→726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132320" y="2185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N-Score +40%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32320" y="2642616"/>
            <a:ext cx="1828800" cy="987552"/>
          </a:xfrm>
          <a:prstGeom prst="rect">
            <a:avLst/>
          </a:prstGeom>
          <a:solidFill>
            <a:srgbClr val="122040"/>
          </a:solidFill>
          <a:ln w="19050">
            <a:solidFill>
              <a:srgbClr val="D4A01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0" y="2642616"/>
            <a:ext cx="18288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27980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32320" y="3300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NRA 복원율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0" y="3758184"/>
            <a:ext cx="1828800" cy="987552"/>
          </a:xfrm>
          <a:prstGeom prst="rect">
            <a:avLst/>
          </a:prstGeom>
          <a:solidFill>
            <a:srgbClr val="122040"/>
          </a:solidFill>
          <a:ln w="19050">
            <a:solidFill>
              <a:srgbClr val="6C4D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32320" y="3758184"/>
            <a:ext cx="1828800" cy="109728"/>
          </a:xfrm>
          <a:prstGeom prst="rect">
            <a:avLst/>
          </a:prstGeom>
          <a:solidFill>
            <a:srgbClr val="6C4DF0"/>
          </a:solidFill>
          <a:ln w="12700">
            <a:solidFill>
              <a:srgbClr val="6C4D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39136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4D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20년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32320" y="4416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 전영역 경력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Neurin Kairos AI Inc.  ·  뉴린카이로스에이아이(주)  ·  2026.03  ·  cpo@neurinkairosai.com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45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1168" y="32918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투자자를 위한 한 장 요약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2743200" cy="1792224"/>
          </a:xfrm>
          <a:prstGeom prst="rect">
            <a:avLst/>
          </a:prstGeom>
          <a:solidFill>
            <a:srgbClr val="EEF3FF"/>
          </a:solidFill>
          <a:ln w="1905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68680"/>
            <a:ext cx="2743200" cy="402336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93268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(Problem)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271016"/>
            <a:ext cx="45720" cy="1389888"/>
          </a:xfrm>
          <a:prstGeom prst="rect">
            <a:avLst/>
          </a:prstGeom>
          <a:solidFill>
            <a:srgbClr val="1B4FD8">
              <a:alpha val="45000"/>
            </a:srgbClr>
          </a:solidFill>
          <a:ln w="12700">
            <a:solidFill>
              <a:srgbClr val="1B4FD8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" y="136245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아무도 60분 전에 알려주지 않았습니다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" y="1755648"/>
            <a:ext cx="2487168" cy="0"/>
          </a:xfrm>
          <a:prstGeom prst="line">
            <a:avLst/>
          </a:prstGeom>
          <a:noFill/>
          <a:ln w="6350">
            <a:solidFill>
              <a:srgbClr val="1B4FD8">
                <a:alpha val="35000"/>
              </a:srgbClr>
            </a:solidFill>
            <a:prstDash val="sysDash"/>
          </a:ln>
        </p:spPr>
      </p:sp>
      <p:sp>
        <p:nvSpPr>
          <p:cNvPr id="12" name="Text 10"/>
          <p:cNvSpPr/>
          <p:nvPr/>
        </p:nvSpPr>
        <p:spPr>
          <a:xfrm>
            <a:off x="374904" y="1810512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 행동엔 패턴이 있습니다.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타이밍을 아무도 잡아주지 않았습니다.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868680"/>
            <a:ext cx="2743200" cy="1792224"/>
          </a:xfrm>
          <a:prstGeom prst="rect">
            <a:avLst/>
          </a:prstGeom>
          <a:solidFill>
            <a:srgbClr val="E8FBF4"/>
          </a:solidFill>
          <a:ln w="19050">
            <a:solidFill>
              <a:srgbClr val="00B87A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868680"/>
            <a:ext cx="2743200" cy="402336"/>
          </a:xfrm>
          <a:prstGeom prst="rect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93268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 (Solution)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0" y="1271016"/>
            <a:ext cx="45720" cy="1389888"/>
          </a:xfrm>
          <a:prstGeom prst="rect">
            <a:avLst/>
          </a:prstGeom>
          <a:solidFill>
            <a:srgbClr val="00B87A">
              <a:alpha val="45000"/>
            </a:srgbClr>
          </a:solidFill>
          <a:ln w="12700">
            <a:solidFill>
              <a:srgbClr val="00B87A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46704" y="136245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1건이 다음 행동을 예측합니다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28416" y="1755648"/>
            <a:ext cx="2487168" cy="0"/>
          </a:xfrm>
          <a:prstGeom prst="line">
            <a:avLst/>
          </a:prstGeom>
          <a:noFill/>
          <a:ln w="6350">
            <a:solidFill>
              <a:srgbClr val="00B87A">
                <a:alpha val="35000"/>
              </a:srgbClr>
            </a:solidFill>
            <a:prstDash val="sysDash"/>
          </a:ln>
        </p:spPr>
      </p:sp>
      <p:sp>
        <p:nvSpPr>
          <p:cNvPr id="19" name="Text 17"/>
          <p:cNvSpPr/>
          <p:nvPr/>
        </p:nvSpPr>
        <p:spPr>
          <a:xfrm>
            <a:off x="3346704" y="1810512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4건 · Living Profile™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 데이터 → T-60 경보 → 인생 내비게이션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868680"/>
            <a:ext cx="2743200" cy="1792224"/>
          </a:xfrm>
          <a:prstGeom prst="rect">
            <a:avLst/>
          </a:prstGeom>
          <a:solidFill>
            <a:srgbClr val="FDF6E3"/>
          </a:solidFill>
          <a:ln w="1905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868680"/>
            <a:ext cx="2743200" cy="4023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0216" y="93268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(Market)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1271016"/>
            <a:ext cx="45720" cy="1389888"/>
          </a:xfrm>
          <a:prstGeom prst="rect">
            <a:avLst/>
          </a:prstGeom>
          <a:solidFill>
            <a:srgbClr val="D4A017">
              <a:alpha val="45000"/>
            </a:srgbClr>
          </a:solidFill>
          <a:ln w="12700">
            <a:solidFill>
              <a:srgbClr val="D4A017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8504" y="136245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교차점 1,000조 — 아무도 없습니다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0216" y="1755648"/>
            <a:ext cx="2487168" cy="0"/>
          </a:xfrm>
          <a:prstGeom prst="line">
            <a:avLst/>
          </a:prstGeom>
          <a:noFill/>
          <a:ln w="6350">
            <a:solidFill>
              <a:srgbClr val="D4A017">
                <a:alpha val="35000"/>
              </a:srgbClr>
            </a:solidFill>
            <a:prstDash val="sysDash"/>
          </a:ln>
        </p:spPr>
      </p:sp>
      <p:sp>
        <p:nvSpPr>
          <p:cNvPr id="26" name="Text 24"/>
          <p:cNvSpPr/>
          <p:nvPr/>
        </p:nvSpPr>
        <p:spPr>
          <a:xfrm>
            <a:off x="6318504" y="1810512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멘탈헬스 600조 + AI 개인화 400조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AI기본법 2026 시행 — 지금이 골든윈도우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2788920"/>
            <a:ext cx="2743200" cy="1792224"/>
          </a:xfrm>
          <a:prstGeom prst="rect">
            <a:avLst/>
          </a:prstGeom>
          <a:solidFill>
            <a:srgbClr val="F2EFFE"/>
          </a:solidFill>
          <a:ln w="19050">
            <a:solidFill>
              <a:srgbClr val="6C4DF0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2788920"/>
            <a:ext cx="2743200" cy="402336"/>
          </a:xfrm>
          <a:prstGeom prst="rect">
            <a:avLst/>
          </a:prstGeom>
          <a:solidFill>
            <a:srgbClr val="6C4DF0"/>
          </a:solidFill>
          <a:ln w="12700">
            <a:solidFill>
              <a:srgbClr val="6C4D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" y="285292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경쟁우위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28600" y="3191256"/>
            <a:ext cx="45720" cy="1389888"/>
          </a:xfrm>
          <a:prstGeom prst="rect">
            <a:avLst/>
          </a:prstGeom>
          <a:solidFill>
            <a:srgbClr val="6C4DF0">
              <a:alpha val="45000"/>
            </a:srgbClr>
          </a:solidFill>
          <a:ln w="12700">
            <a:solidFill>
              <a:srgbClr val="6C4DF0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" y="328269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4건 + 상표 3건 = 진입장벽 완성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6616" y="3675888"/>
            <a:ext cx="2487168" cy="0"/>
          </a:xfrm>
          <a:prstGeom prst="line">
            <a:avLst/>
          </a:prstGeom>
          <a:noFill/>
          <a:ln w="6350">
            <a:solidFill>
              <a:srgbClr val="6C4DF0">
                <a:alpha val="35000"/>
              </a:srgbClr>
            </a:solidFill>
            <a:prstDash val="sysDash"/>
          </a:ln>
        </p:spPr>
      </p:sp>
      <p:sp>
        <p:nvSpPr>
          <p:cNvPr id="33" name="Text 31"/>
          <p:cNvSpPr/>
          <p:nvPr/>
        </p:nvSpPr>
        <p:spPr>
          <a:xfrm>
            <a:off x="374904" y="3730752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롯데카드 20년 금융 전영역 실무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FDS 3.5년 → 행동예측 AI 직접 설계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0" y="2788920"/>
            <a:ext cx="2743200" cy="1792224"/>
          </a:xfrm>
          <a:prstGeom prst="rect">
            <a:avLst/>
          </a:prstGeom>
          <a:solidFill>
            <a:srgbClr val="FFF3EC"/>
          </a:solidFill>
          <a:ln w="19050">
            <a:solidFill>
              <a:srgbClr val="F07830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2788920"/>
            <a:ext cx="2743200" cy="402336"/>
          </a:xfrm>
          <a:prstGeom prst="rect">
            <a:avLst/>
          </a:prstGeom>
          <a:solidFill>
            <a:srgbClr val="F07830"/>
          </a:solidFill>
          <a:ln w="12700">
            <a:solidFill>
              <a:srgbClr val="F078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28416" y="285292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Ask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00400" y="3191256"/>
            <a:ext cx="45720" cy="1389888"/>
          </a:xfrm>
          <a:prstGeom prst="rect">
            <a:avLst/>
          </a:prstGeom>
          <a:solidFill>
            <a:srgbClr val="F07830">
              <a:alpha val="45000"/>
            </a:srgbClr>
          </a:solidFill>
          <a:ln w="12700">
            <a:solidFill>
              <a:srgbClr val="F07830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46704" y="328269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3억 ~ 5억원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28416" y="3675888"/>
            <a:ext cx="2487168" cy="0"/>
          </a:xfrm>
          <a:prstGeom prst="line">
            <a:avLst/>
          </a:prstGeom>
          <a:noFill/>
          <a:ln w="6350">
            <a:solidFill>
              <a:srgbClr val="F07830">
                <a:alpha val="35000"/>
              </a:srgbClr>
            </a:solidFill>
            <a:prstDash val="sysDash"/>
          </a:ln>
        </p:spPr>
      </p:sp>
      <p:sp>
        <p:nvSpPr>
          <p:cNvPr id="40" name="Text 38"/>
          <p:cNvSpPr/>
          <p:nvPr/>
        </p:nvSpPr>
        <p:spPr>
          <a:xfrm>
            <a:off x="3346704" y="3730752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엔젤·시드 투자자 연결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기술자문 500~1,000만원 · PoC 파트너십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72200" y="2788920"/>
            <a:ext cx="2743200" cy="1792224"/>
          </a:xfrm>
          <a:prstGeom prst="rect">
            <a:avLst/>
          </a:prstGeom>
          <a:solidFill>
            <a:srgbClr val="FFF0F0"/>
          </a:solidFill>
          <a:ln w="19050">
            <a:solidFill>
              <a:srgbClr val="E03B3B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72200" y="2788920"/>
            <a:ext cx="2743200" cy="402336"/>
          </a:xfrm>
          <a:prstGeom prst="rect">
            <a:avLst/>
          </a:prstGeom>
          <a:solidFill>
            <a:srgbClr val="E03B3B"/>
          </a:solidFill>
          <a:ln w="12700">
            <a:solidFill>
              <a:srgbClr val="E03B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0216" y="285292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결과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172200" y="3191256"/>
            <a:ext cx="45720" cy="1389888"/>
          </a:xfrm>
          <a:prstGeom prst="rect">
            <a:avLst/>
          </a:prstGeom>
          <a:solidFill>
            <a:srgbClr val="E03B3B">
              <a:alpha val="45000"/>
            </a:srgbClr>
          </a:solidFill>
          <a:ln w="12700">
            <a:solidFill>
              <a:srgbClr val="E03B3B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18504" y="328269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N-Score  520→726  +40% 상승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300216" y="3675888"/>
            <a:ext cx="2487168" cy="0"/>
          </a:xfrm>
          <a:prstGeom prst="line">
            <a:avLst/>
          </a:prstGeom>
          <a:noFill/>
          <a:ln w="6350">
            <a:solidFill>
              <a:srgbClr val="E03B3B">
                <a:alpha val="35000"/>
              </a:srgbClr>
            </a:solidFill>
            <a:prstDash val="sysDash"/>
          </a:ln>
        </p:spPr>
      </p:sp>
      <p:sp>
        <p:nvSpPr>
          <p:cNvPr id="47" name="Text 45"/>
          <p:cNvSpPr/>
          <p:nvPr/>
        </p:nvSpPr>
        <p:spPr>
          <a:xfrm>
            <a:off x="6318504" y="3730752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NRA 복원율 97.0% · 6개월 510건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행동법칙 11개 · 4대 알고리즘 검증 완료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AI기본법 2026.01 시행 — 타이밍은 지금입니다  ·  골든윈도우 오픈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PHILOSOPHY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53035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인생은 세 번입니다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43200" cy="3520440"/>
          </a:xfrm>
          <a:prstGeom prst="rect">
            <a:avLst/>
          </a:prstGeom>
          <a:solidFill>
            <a:srgbClr val="0F2040"/>
          </a:solidFill>
          <a:ln w="19050">
            <a:solidFill>
              <a:srgbClr val="1B4F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2743200" cy="128016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508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8470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8912" y="24140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태어나다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" y="2743200"/>
            <a:ext cx="1371600" cy="0"/>
          </a:xfrm>
          <a:prstGeom prst="line">
            <a:avLst/>
          </a:prstGeom>
          <a:noFill/>
          <a:ln w="10160">
            <a:solidFill>
              <a:srgbClr val="1B4FD8"/>
            </a:solidFill>
            <a:prstDash val="sysDash"/>
          </a:ln>
        </p:spPr>
      </p:sp>
      <p:sp>
        <p:nvSpPr>
          <p:cNvPr id="11" name="Text 9"/>
          <p:cNvSpPr/>
          <p:nvPr/>
        </p:nvSpPr>
        <p:spPr>
          <a:xfrm>
            <a:off x="438912" y="2852928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고른 것이 아닌 것들.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기질, DNA, 자란 환경.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그것이 나의 출발선이고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N-KAI의 첫 번째 좌표입니다.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" y="4553712"/>
            <a:ext cx="2423160" cy="256032"/>
          </a:xfrm>
          <a:prstGeom prst="rect">
            <a:avLst/>
          </a:prstGeom>
          <a:solidFill>
            <a:srgbClr val="1B4FD8">
              <a:alpha val="18000"/>
            </a:srgbClr>
          </a:solidFill>
          <a:ln w="12700">
            <a:solidFill>
              <a:srgbClr val="1B4FD8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4562856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N-KAI : 당신이 가진 것부터 읽습니다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18688" y="1371600"/>
            <a:ext cx="2743200" cy="3520440"/>
          </a:xfrm>
          <a:prstGeom prst="rect">
            <a:avLst/>
          </a:prstGeom>
          <a:solidFill>
            <a:srgbClr val="122040"/>
          </a:solidFill>
          <a:ln w="31750">
            <a:solidFill>
              <a:srgbClr val="D4A01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371600"/>
            <a:ext cx="2743200" cy="12801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508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8470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383280" y="24140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살아가다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2743200"/>
            <a:ext cx="1371600" cy="0"/>
          </a:xfrm>
          <a:prstGeom prst="line">
            <a:avLst/>
          </a:prstGeom>
          <a:noFill/>
          <a:ln w="10160">
            <a:solidFill>
              <a:srgbClr val="D4A017"/>
            </a:solidFill>
            <a:prstDash val="sysDash"/>
          </a:ln>
        </p:spPr>
      </p:sp>
      <p:sp>
        <p:nvSpPr>
          <p:cNvPr id="20" name="Text 18"/>
          <p:cNvSpPr/>
          <p:nvPr/>
        </p:nvSpPr>
        <p:spPr>
          <a:xfrm>
            <a:off x="3383280" y="2852928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살면서 쌓이는 선택들.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어제의 패턴이 오늘을 만들고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오늘이 내일을 만듭니다.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N-KAI는 60분 먼저 압니다.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83280" y="4553712"/>
            <a:ext cx="2423160" cy="256032"/>
          </a:xfrm>
          <a:prstGeom prst="rect">
            <a:avLst/>
          </a:prstGeom>
          <a:solidFill>
            <a:srgbClr val="D4A017">
              <a:alpha val="18000"/>
            </a:srgbClr>
          </a:solidFill>
          <a:ln w="12700">
            <a:solidFill>
              <a:srgbClr val="D4A017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9856" y="4562856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N-KAI : 60분 전, 이미 알고 있습니다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63056" y="1371600"/>
            <a:ext cx="2743200" cy="3520440"/>
          </a:xfrm>
          <a:prstGeom prst="rect">
            <a:avLst/>
          </a:prstGeom>
          <a:solidFill>
            <a:srgbClr val="0F2040"/>
          </a:solidFill>
          <a:ln w="19050">
            <a:solidFill>
              <a:srgbClr val="00B8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63056" y="1371600"/>
            <a:ext cx="2743200" cy="128016"/>
          </a:xfrm>
          <a:prstGeom prst="rect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1508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27648" y="18470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327648" y="24140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남기다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27648" y="2743200"/>
            <a:ext cx="1371600" cy="0"/>
          </a:xfrm>
          <a:prstGeom prst="line">
            <a:avLst/>
          </a:prstGeom>
          <a:noFill/>
          <a:ln w="10160">
            <a:solidFill>
              <a:srgbClr val="00B87A"/>
            </a:solidFill>
            <a:prstDash val="sysDash"/>
          </a:ln>
        </p:spPr>
      </p:sp>
      <p:sp>
        <p:nvSpPr>
          <p:cNvPr id="29" name="Text 27"/>
          <p:cNvSpPr/>
          <p:nvPr/>
        </p:nvSpPr>
        <p:spPr>
          <a:xfrm>
            <a:off x="6327648" y="2852928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없어도 남는 것.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살아온 방식, 선택의 흔적.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데이터가 다음 사람의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내비게이션이 됩니다.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27648" y="4553712"/>
            <a:ext cx="2423160" cy="256032"/>
          </a:xfrm>
          <a:prstGeom prst="rect">
            <a:avLst/>
          </a:prstGeom>
          <a:solidFill>
            <a:srgbClr val="00B87A">
              <a:alpha val="18000"/>
            </a:srgbClr>
          </a:solidFill>
          <a:ln w="12700">
            <a:solidFill>
              <a:srgbClr val="00B87A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4224" y="4562856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N-KAI : 삶을 흘려보내지 않습니다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TECHNOLOGY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1168" y="3200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특허 4건 — 기술 방어선 완성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029968" cy="3913632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2029968" cy="45720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" y="978408"/>
            <a:ext cx="320040" cy="320040"/>
          </a:xfrm>
          <a:prstGeom prst="ellipse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987552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9875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엔진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" y="14447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Evolving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4A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Kairos Persona Engine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328" y="208483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출생 기반 생애주기 좌표 + 행동 성향을 융합해 16형 DNA Living Profile 생성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090672"/>
            <a:ext cx="1874520" cy="146304"/>
          </a:xfrm>
          <a:prstGeom prst="rect">
            <a:avLst/>
          </a:prstGeom>
          <a:solidFill>
            <a:srgbClr val="1B4FD8">
              <a:alpha val="12000"/>
            </a:srgbClr>
          </a:solidFill>
          <a:ln w="12700">
            <a:solidFill>
              <a:srgbClr val="1B4FD8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309067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알고리즘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8328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베이지안 추론 (동적 갱신)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ROC 임계치 보정 (T-60 경보)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462272"/>
            <a:ext cx="1874520" cy="27432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4480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특허-2025-0156080 (심사청구 완료)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41448" y="914400"/>
            <a:ext cx="2029968" cy="39136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87A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41448" y="914400"/>
            <a:ext cx="2029968" cy="457200"/>
          </a:xfrm>
          <a:prstGeom prst="rect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78408"/>
            <a:ext cx="320040" cy="320040"/>
          </a:xfrm>
          <a:prstGeom prst="ellipse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14600" y="987552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98648" y="9875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엔진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51176" y="14447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Relationship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4A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Matching System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51176" y="208483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유형이 왜 충돌하고 다른 유형이 왜 맞는지 데이터로 증명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32888" y="3090672"/>
            <a:ext cx="1874520" cy="146304"/>
          </a:xfrm>
          <a:prstGeom prst="rect">
            <a:avLst/>
          </a:prstGeom>
          <a:solidFill>
            <a:srgbClr val="00B87A">
              <a:alpha val="12000"/>
            </a:srgbClr>
          </a:solidFill>
          <a:ln w="12700">
            <a:solidFill>
              <a:srgbClr val="00B87A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51176" y="309067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알고리즘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51176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아키타입 벡터 유사도 분석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51176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관계 적합도 스코어링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32888" y="4462272"/>
            <a:ext cx="1874520" cy="27432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51176" y="4480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특허-2025-0156081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54296" y="914400"/>
            <a:ext cx="2029968" cy="3913632"/>
          </a:xfrm>
          <a:prstGeom prst="rect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54296" y="914400"/>
            <a:ext cx="2029968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27448" y="978408"/>
            <a:ext cx="320040" cy="3200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27448" y="987552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11496" y="9875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웰니스 엔진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64024" y="14447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Personalized Wellness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4A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 AI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64024" y="208483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9개 축으로 현재 상태를 읽고 이 사람에게 맞는 루틴을 제안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45736" y="3090672"/>
            <a:ext cx="1874520" cy="146304"/>
          </a:xfrm>
          <a:prstGeom prst="rect">
            <a:avLst/>
          </a:prstGeom>
          <a:solidFill>
            <a:srgbClr val="D4A017">
              <a:alpha val="12000"/>
            </a:srgbClr>
          </a:solidFill>
          <a:ln w="12700">
            <a:solidFill>
              <a:srgbClr val="D4A017">
                <a:alpha val="2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64024" y="309067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알고리즘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64024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9축 웰니스 상태벡터 h(t)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64024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개인화 추천 모델 학습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45736" y="4462272"/>
            <a:ext cx="1874520" cy="27432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64024" y="4480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특허-2025-0156082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867144" y="914400"/>
            <a:ext cx="2029968" cy="3913632"/>
          </a:xfrm>
          <a:prstGeom prst="rect">
            <a:avLst/>
          </a:prstGeom>
          <a:solidFill>
            <a:srgbClr val="FFFFFF"/>
          </a:solidFill>
          <a:ln w="19050">
            <a:solidFill>
              <a:srgbClr val="6C4DF0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867144" y="914400"/>
            <a:ext cx="2029968" cy="457200"/>
          </a:xfrm>
          <a:prstGeom prst="rect">
            <a:avLst/>
          </a:prstGeom>
          <a:solidFill>
            <a:srgbClr val="6C4DF0"/>
          </a:solidFill>
          <a:ln w="12700">
            <a:solidFill>
              <a:srgbClr val="6C4D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40296" y="978408"/>
            <a:ext cx="320040" cy="320040"/>
          </a:xfrm>
          <a:prstGeom prst="ellipse">
            <a:avLst/>
          </a:prstGeom>
          <a:solidFill>
            <a:srgbClr val="6C4DF0"/>
          </a:solidFill>
          <a:ln w="12700">
            <a:solidFill>
              <a:srgbClr val="6C4D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0296" y="987552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324344" y="9875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엔진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76872" y="14447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Feedback Learning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4A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Engine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976872" y="208483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쓸수록 나에게 맞아가는 진화형 타이밍 예측 — Neural CDE 기반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958584" y="3090672"/>
            <a:ext cx="1874520" cy="146304"/>
          </a:xfrm>
          <a:prstGeom prst="rect">
            <a:avLst/>
          </a:prstGeom>
          <a:solidFill>
            <a:srgbClr val="6C4DF0">
              <a:alpha val="12000"/>
            </a:srgbClr>
          </a:solidFill>
          <a:ln w="12700">
            <a:solidFill>
              <a:srgbClr val="6C4DF0">
                <a:alpha val="2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76872" y="309067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알고리즘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976872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Neural CDE 시계열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976872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다차원 변수 AI 피드백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58584" y="4462272"/>
            <a:ext cx="1874520" cy="27432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76872" y="4480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특허-2025-0156083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488289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포트폴리오 완성  -  특허 4건 + 상표 3건 = 총 7건  ·  후발주자 진입 장벽 구축 완료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1168" y="3200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법이 시장을 만들었습니다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4160520" cy="3913632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14400"/>
            <a:ext cx="4160520" cy="475488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692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AI기본법 2026.01 시행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" y="1481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한국, 세계 최초  ·  선점자 우위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1847088"/>
            <a:ext cx="640080" cy="347472"/>
          </a:xfrm>
          <a:prstGeom prst="rect">
            <a:avLst/>
          </a:prstGeom>
          <a:solidFill>
            <a:srgbClr val="1B4FD8">
              <a:alpha val="15000"/>
            </a:srgbClr>
          </a:solidFill>
          <a:ln w="12700">
            <a:solidFill>
              <a:srgbClr val="1B4FD8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83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8836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투명성 확보 의무 — 설명 가능 AI 필수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" y="2377440"/>
            <a:ext cx="640080" cy="347472"/>
          </a:xfrm>
          <a:prstGeom prst="rect">
            <a:avLst/>
          </a:prstGeom>
          <a:solidFill>
            <a:srgbClr val="1B4FD8">
              <a:alpha val="15000"/>
            </a:srgbClr>
          </a:solidFill>
          <a:ln w="12700">
            <a:solidFill>
              <a:srgbClr val="1B4FD8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4140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24140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 확보 의무 — 위험도 평가 필수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" y="2907792"/>
            <a:ext cx="640080" cy="347472"/>
          </a:xfrm>
          <a:prstGeom prst="rect">
            <a:avLst/>
          </a:prstGeom>
          <a:solidFill>
            <a:srgbClr val="1B4FD8">
              <a:alpha val="15000"/>
            </a:srgbClr>
          </a:solidFill>
          <a:ln w="12700">
            <a:solidFill>
              <a:srgbClr val="1B4FD8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9443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§33-35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2944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고영향 AI 규제 — 프라이버시 보호 강제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4048" y="3438144"/>
            <a:ext cx="640080" cy="347472"/>
          </a:xfrm>
          <a:prstGeom prst="rect">
            <a:avLst/>
          </a:prstGeom>
          <a:solidFill>
            <a:srgbClr val="1B4FD8">
              <a:alpha val="15000"/>
            </a:srgbClr>
          </a:solidFill>
          <a:ln w="12700">
            <a:solidFill>
              <a:srgbClr val="1B4FD8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474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2027~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3474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98% 대응체계 미비 · 과태료 3천만원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" y="4023360"/>
            <a:ext cx="3840480" cy="640080"/>
          </a:xfrm>
          <a:prstGeom prst="rect">
            <a:avLst/>
          </a:prstGeom>
          <a:solidFill>
            <a:srgbClr val="1B4FD8">
              <a:alpha val="12000"/>
            </a:srgbClr>
          </a:solidFill>
          <a:ln w="12700">
            <a:solidFill>
              <a:srgbClr val="1B4FD8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114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AI기본법  →  N-KAI 포지션  →  교차점에 경쟁자 없음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36592" y="914400"/>
            <a:ext cx="4160520" cy="1810512"/>
          </a:xfrm>
          <a:prstGeom prst="rect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914400"/>
            <a:ext cx="416052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9692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시장 규모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64608" y="14630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1,000조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4864608" y="21762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멘탈헬스 </a:t>
            </a:r>
            <a:pPr indent="0" marL="0">
              <a:buNone/>
            </a:pPr>
            <a:r>
              <a:rPr lang="en-US" sz="13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600조</a:t>
            </a:r>
            <a:pPr indent="0" marL="0">
              <a:buNone/>
            </a:pPr>
            <a:r>
              <a:rPr lang="en-US" sz="13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AI 개인화 </a:t>
            </a:r>
            <a:pPr indent="0" marL="0">
              <a:buNone/>
            </a:pPr>
            <a:r>
              <a:rPr lang="en-US" sz="1300" b="1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400조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36592" y="2834640"/>
            <a:ext cx="4160520" cy="19933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87A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2834640"/>
            <a:ext cx="4160520" cy="475488"/>
          </a:xfrm>
          <a:prstGeom prst="rect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8895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선례 : 법이 유니콘을 만든다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64608" y="34015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pPr indent="0" marL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OneTrust 유니콘 탄생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64608" y="37490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SOX법</a:t>
            </a:r>
            <a:pPr indent="0" marL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컴플라이언스 SaaS 수조원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64608" y="40965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</a:t>
            </a:r>
            <a:pPr indent="0" marL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FDS 시장 창출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64608" y="44439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AI기본법</a:t>
            </a:r>
            <a:pPr indent="0" marL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N-KAI 포지션 ✅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1168" y="3200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N-KAI는 앱이 아닙니다. SDK입니다.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B2B 수익 구조 — 2-Track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" y="1280160"/>
            <a:ext cx="4206240" cy="50292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167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 엔진 라이선스 월정액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1847088"/>
            <a:ext cx="1371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AA8F5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847088"/>
            <a:ext cx="1371600" cy="109728"/>
          </a:xfrm>
          <a:prstGeom prst="rect">
            <a:avLst/>
          </a:prstGeom>
          <a:solidFill>
            <a:srgbClr val="7AA8F5"/>
          </a:solidFill>
          <a:ln w="12700">
            <a:solidFill>
              <a:srgbClr val="7AA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19751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" y="22494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₩300만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1752" y="2651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/월 · 1사당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1752" y="2926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중소 핀테크 10사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82496" y="1847088"/>
            <a:ext cx="1371600" cy="1508760"/>
          </a:xfrm>
          <a:prstGeom prst="rect">
            <a:avLst/>
          </a:prstGeom>
          <a:solidFill>
            <a:srgbClr val="1B4FD8"/>
          </a:solidFill>
          <a:ln w="25400">
            <a:solidFill>
              <a:srgbClr val="1B4F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682496" y="1847088"/>
            <a:ext cx="1371600" cy="109728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28216" y="19751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28216" y="22494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C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₩1,000만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28216" y="2651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/월 · 1사당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728216" y="2926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금융사 3사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08960" y="1847088"/>
            <a:ext cx="1371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35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08960" y="1847088"/>
            <a:ext cx="1371600" cy="109728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19751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54680" y="22494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협의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154680" y="2651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대형 1사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154680" y="2926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롯데·신한·삼성생명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1280160"/>
            <a:ext cx="4343400" cy="20848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87A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1280160"/>
            <a:ext cx="4343400" cy="502920"/>
          </a:xfrm>
          <a:prstGeom prst="rect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3350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 API 호출당 과금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09160" y="18745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₩20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4709160" y="2487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거래 1건 = 1 call = ₩20 고정과금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9160" y="28163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PSP 거래 수수료(%)와 완전히 다름. 거래금액 무관.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56032" y="34930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카드사 앱 탑재  →  보이스피싱 차단 엔진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56032" y="38221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헬스케어 앱 탑재  →  번아웃 경보 시스템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56032" y="41513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금융사 탑재  →  행동 기반 신용평가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956048" y="3547872"/>
            <a:ext cx="256032" cy="256032"/>
          </a:xfrm>
          <a:prstGeom prst="ellipse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12080" y="3666744"/>
            <a:ext cx="457200" cy="0"/>
          </a:xfrm>
          <a:prstGeom prst="line">
            <a:avLst/>
          </a:prstGeom>
          <a:noFill/>
          <a:ln w="12700">
            <a:solidFill>
              <a:srgbClr val="8898B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8587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63440" y="4078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17720" y="427939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완료·SDK 착수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53328" y="3547872"/>
            <a:ext cx="256032" cy="256032"/>
          </a:xfrm>
          <a:prstGeom prst="ellipse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3666744"/>
            <a:ext cx="457200" cy="0"/>
          </a:xfrm>
          <a:prstGeom prst="line">
            <a:avLst/>
          </a:prstGeom>
          <a:noFill/>
          <a:ln w="12700">
            <a:solidFill>
              <a:srgbClr val="8898B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38587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60720" y="4078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15000" y="427939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롯데카드 PoC · MVP 출시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150608" y="3547872"/>
            <a:ext cx="256032" cy="25603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06640" y="3666744"/>
            <a:ext cx="457200" cy="0"/>
          </a:xfrm>
          <a:prstGeom prst="line">
            <a:avLst/>
          </a:prstGeom>
          <a:noFill/>
          <a:ln w="12700">
            <a:solidFill>
              <a:srgbClr val="8898B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0" y="38587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58000" y="4078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12280" y="427939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시드 · 팀 빌딩 3명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247888" y="3547872"/>
            <a:ext cx="256032" cy="256032"/>
          </a:xfrm>
          <a:prstGeom prst="ellipse">
            <a:avLst/>
          </a:prstGeom>
          <a:solidFill>
            <a:srgbClr val="6C4DF0"/>
          </a:solidFill>
          <a:ln w="12700">
            <a:solidFill>
              <a:srgbClr val="6C4D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55280" y="38587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955280" y="4078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Q1+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909560" y="427939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 · HK·SG B2B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00D48C"/>
          </a:solidFill>
          <a:ln w="12700">
            <a:solidFill>
              <a:srgbClr val="00D4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1168" y="3200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6개월 자가 실증 데이터 — 숫자가 말합니다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1993392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14400"/>
            <a:ext cx="1993392" cy="128016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9728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F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6개월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" y="162763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 기간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185623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2025.09.11 법인설립~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32304" y="914400"/>
            <a:ext cx="1993392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00B87A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32304" y="914400"/>
            <a:ext cx="1993392" cy="128016"/>
          </a:xfrm>
          <a:prstGeom prst="rect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32304" y="109728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726점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32304" y="162763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N-Score 최종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32304" y="185623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520점에서 시작 · +40%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08576" y="914400"/>
            <a:ext cx="1993392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914400"/>
            <a:ext cx="1993392" cy="12801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109728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97.0%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608576" y="162763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NRA 복원율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08576" y="185623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내러티브 복원 일관성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84848" y="914400"/>
            <a:ext cx="1993392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6C4DF0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84848" y="914400"/>
            <a:ext cx="1993392" cy="128016"/>
          </a:xfrm>
          <a:prstGeom prst="rect">
            <a:avLst/>
          </a:prstGeom>
          <a:solidFill>
            <a:srgbClr val="6C4DF0"/>
          </a:solidFill>
          <a:ln w="12700">
            <a:solidFill>
              <a:srgbClr val="6C4D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109728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C4D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510건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784848" y="162763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거래 분석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84848" y="185623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행동패턴 원천 데이터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212848"/>
            <a:ext cx="4206240" cy="2578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4048" y="2286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4대 알고리즘 검증 결과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7472" y="2724912"/>
            <a:ext cx="3931920" cy="43891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7797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베이지안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54480" y="27797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22회 갱신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71800" y="277977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사후확률 0.99+ 달성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7472" y="3236976"/>
            <a:ext cx="3931920" cy="43891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291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임계치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55448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22회 초과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71800" y="3291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T-60 경고 전원 적중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47472" y="3749040"/>
            <a:ext cx="3931920" cy="43891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8039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비지도학습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554480" y="38039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C8~C12 클러스터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971800" y="380390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5극 DNA 완전 분화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47472" y="4261104"/>
            <a:ext cx="3931920" cy="43891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315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CDE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554480" y="4315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6개월 궤적 완성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971800" y="43159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N-Score 드리프트 포착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09160" y="2212848"/>
            <a:ext cx="4206240" cy="257860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87A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2212848"/>
            <a:ext cx="4206240" cy="402336"/>
          </a:xfrm>
          <a:prstGeom prst="rect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22768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행동법칙 11개 발견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773168" y="2734056"/>
            <a:ext cx="100584" cy="100584"/>
          </a:xfrm>
          <a:prstGeom prst="ellipse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2679192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크레이빙 3일 포화 — 3일 연속 동일 메뉴 후 전환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73168" y="2916936"/>
            <a:ext cx="100584" cy="100584"/>
          </a:xfrm>
          <a:prstGeom prst="ellipse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9472" y="2862072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야간 과소비 — 22시 이후 충동구매 +67%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73168" y="3099816"/>
            <a:ext cx="100584" cy="100584"/>
          </a:xfrm>
          <a:prstGeom prst="ellipse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19472" y="3044952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주말 리셋 — 월요일이 주중 예측 기준점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73168" y="3282696"/>
            <a:ext cx="100584" cy="100584"/>
          </a:xfrm>
          <a:prstGeom prst="ellipse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19472" y="3227832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스트레스 대체 — 고단가 식사 후 구매욕 감소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73168" y="3465576"/>
            <a:ext cx="100584" cy="100584"/>
          </a:xfrm>
          <a:prstGeom prst="ellipse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19472" y="3410712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음주 복귀 — 금주 후 재음주 시 클러스터 이동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73168" y="3648456"/>
            <a:ext cx="100584" cy="100584"/>
          </a:xfrm>
          <a:prstGeom prst="ellipse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19472" y="3593592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커피 전환 — 아메리카노→라떼 = 에너지 저점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773168" y="3831336"/>
            <a:ext cx="100584" cy="100584"/>
          </a:xfrm>
          <a:prstGeom prst="ellipse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19472" y="3776472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배달 단축 — 배달 빈도 증가 시 외출 의욕 저하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773168" y="4014216"/>
            <a:ext cx="100584" cy="100584"/>
          </a:xfrm>
          <a:prstGeom prst="ellipse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19472" y="3959352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충족 의도 — 카테고리 크로스오버 패턴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773168" y="4197096"/>
            <a:ext cx="100584" cy="100584"/>
          </a:xfrm>
          <a:prstGeom prst="ellipse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19472" y="4142232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3분 자기교정 — ROC 경고 후 3분내 수정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773168" y="4379976"/>
            <a:ext cx="100584" cy="100584"/>
          </a:xfrm>
          <a:prstGeom prst="ellipse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19472" y="4325112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유제품 보충 — 매운 식사 후 유제품 필수 보충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773168" y="4562856"/>
            <a:ext cx="100584" cy="100584"/>
          </a:xfrm>
          <a:prstGeom prst="ellipse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19472" y="4507992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무료식사 — 외식 빈도 40% 감소 패턴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N-KAI는 '데이터를 쌓는 앱'이 아닙니다.  데이터를 읽어 당신의 다음 선택을 예측하는 엔진입니다.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53035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 기술이 왜 이 사람에게서 나왔는가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207008"/>
            <a:ext cx="5029200" cy="3611880"/>
          </a:xfrm>
          <a:prstGeom prst="rect">
            <a:avLst/>
          </a:prstGeom>
          <a:solidFill>
            <a:srgbClr val="122040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29844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이원재  ·  Founder &amp; CEO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783080"/>
            <a:ext cx="164592" cy="1645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7393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롯데카드 20년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99339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영업·채권·마케팅·신사업·할부금융 — 금융 全영역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2313432"/>
            <a:ext cx="164592" cy="164592"/>
          </a:xfrm>
          <a:prstGeom prst="rect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30428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신사업 상조제휴 대표 성과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252374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170명 상담사 운영 · 2020~2023.10 영업이익 70억 달성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" y="2843784"/>
            <a:ext cx="164592" cy="164592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8346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채권관리·FDS 전문가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05409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채권우수팀장 다수 역임 · 이상거래탐지 → 행동예측 AI 전환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3374136"/>
            <a:ext cx="164592" cy="164592"/>
          </a:xfrm>
          <a:prstGeom prst="rect">
            <a:avLst/>
          </a:prstGeom>
          <a:solidFill>
            <a:srgbClr val="E03B3B"/>
          </a:solidFill>
          <a:ln w="12700">
            <a:solidFill>
              <a:srgbClr val="E03B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3649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폐암 수술(2022.09) → 익일 즉시 복귀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" y="358444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죽음 앞에서 돌아온 사람의 엔진 · Neural CDE 97.3% 탄력적 복원력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" y="3904488"/>
            <a:ext cx="164592" cy="164592"/>
          </a:xfrm>
          <a:prstGeom prst="rect">
            <a:avLst/>
          </a:prstGeom>
          <a:solidFill>
            <a:srgbClr val="00D48C"/>
          </a:solidFill>
          <a:ln w="12700">
            <a:solidFill>
              <a:srgbClr val="00D4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89534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2025.09 법인창업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" y="411480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3년 설계 → 특허 4건 · 510건 데이터 실증 · 2027.09 완치 판정 예정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4434840"/>
            <a:ext cx="5029200" cy="292608"/>
          </a:xfrm>
          <a:prstGeom prst="rect">
            <a:avLst/>
          </a:prstGeom>
          <a:solidFill>
            <a:srgbClr val="D4A017">
              <a:alpha val="14000"/>
            </a:srgbClr>
          </a:solidFill>
          <a:ln w="12700">
            <a:solidFill>
              <a:srgbClr val="D4A017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445312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C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"45년간 아무도 방향을 안 잡아줬기 때문에, 직접 내비게이터를 만들기로 했습니다."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04688" y="1207008"/>
            <a:ext cx="3401568" cy="3611880"/>
          </a:xfrm>
          <a:prstGeom prst="rect">
            <a:avLst/>
          </a:prstGeom>
          <a:solidFill>
            <a:srgbClr val="122040"/>
          </a:solidFill>
          <a:ln w="12700">
            <a:solidFill>
              <a:srgbClr val="00B8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50992" y="1298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포트폴리오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596128" y="1755648"/>
            <a:ext cx="3200400" cy="475488"/>
          </a:xfrm>
          <a:prstGeom prst="rect">
            <a:avLst/>
          </a:prstGeom>
          <a:solidFill>
            <a:srgbClr val="0D1B35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17922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특허①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0" y="19751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카이로스 페르소나 엔진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54112" y="1847088"/>
            <a:ext cx="914400" cy="274320"/>
          </a:xfrm>
          <a:prstGeom prst="rect">
            <a:avLst/>
          </a:prstGeom>
          <a:solidFill>
            <a:srgbClr val="00B87A">
              <a:alpha val="20000"/>
            </a:srgbClr>
          </a:solidFill>
          <a:ln w="12700">
            <a:solidFill>
              <a:srgbClr val="00B87A">
                <a:alpha val="3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54112" y="185623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심사청구 완료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96128" y="2304288"/>
            <a:ext cx="3200400" cy="475488"/>
          </a:xfrm>
          <a:prstGeom prst="rect">
            <a:avLst/>
          </a:prstGeom>
          <a:solidFill>
            <a:srgbClr val="0D1B35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23408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특허②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0" y="25237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소셜 관계 매칭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54112" y="2395728"/>
            <a:ext cx="914400" cy="274320"/>
          </a:xfrm>
          <a:prstGeom prst="rect">
            <a:avLst/>
          </a:prstGeom>
          <a:solidFill>
            <a:srgbClr val="1B4FD8">
              <a:alpha val="20000"/>
            </a:srgbClr>
          </a:solidFill>
          <a:ln w="12700">
            <a:solidFill>
              <a:srgbClr val="1B4FD8">
                <a:alpha val="3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54112" y="240487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출원 완료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96128" y="2852928"/>
            <a:ext cx="3200400" cy="475488"/>
          </a:xfrm>
          <a:prstGeom prst="rect">
            <a:avLst/>
          </a:prstGeom>
          <a:solidFill>
            <a:srgbClr val="0D1B35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28895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특허③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669280" y="30723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웰니스 추천 AI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754112" y="2944368"/>
            <a:ext cx="914400" cy="274320"/>
          </a:xfrm>
          <a:prstGeom prst="rect">
            <a:avLst/>
          </a:prstGeom>
          <a:solidFill>
            <a:srgbClr val="D4A017">
              <a:alpha val="20000"/>
            </a:srgbClr>
          </a:solidFill>
          <a:ln w="12700">
            <a:solidFill>
              <a:srgbClr val="D4A017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54112" y="29535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출원 완료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596128" y="3401568"/>
            <a:ext cx="3200400" cy="475488"/>
          </a:xfrm>
          <a:prstGeom prst="rect">
            <a:avLst/>
          </a:prstGeom>
          <a:solidFill>
            <a:srgbClr val="0D1B35"/>
          </a:solidFill>
          <a:ln w="12700">
            <a:solidFill>
              <a:srgbClr val="6C4D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34381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특허④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69280" y="36210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피드백 학습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754112" y="3493008"/>
            <a:ext cx="914400" cy="274320"/>
          </a:xfrm>
          <a:prstGeom prst="rect">
            <a:avLst/>
          </a:prstGeom>
          <a:solidFill>
            <a:srgbClr val="6C4DF0">
              <a:alpha val="20000"/>
            </a:srgbClr>
          </a:solidFill>
          <a:ln w="12700">
            <a:solidFill>
              <a:srgbClr val="6C4DF0">
                <a:alpha val="3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54112" y="35021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출원 완료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596128" y="3950208"/>
            <a:ext cx="3200400" cy="475488"/>
          </a:xfrm>
          <a:prstGeom prst="rect">
            <a:avLst/>
          </a:prstGeom>
          <a:solidFill>
            <a:srgbClr val="0D1B35"/>
          </a:solidFill>
          <a:ln w="12700">
            <a:solidFill>
              <a:srgbClr val="7AA8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0" y="39867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A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상표①②③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669280" y="41696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N-KAI · Living Profile™ · N-Score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754112" y="4041648"/>
            <a:ext cx="914400" cy="274320"/>
          </a:xfrm>
          <a:prstGeom prst="rect">
            <a:avLst/>
          </a:prstGeom>
          <a:solidFill>
            <a:srgbClr val="7AA8F5">
              <a:alpha val="20000"/>
            </a:srgbClr>
          </a:solidFill>
          <a:ln w="12700">
            <a:solidFill>
              <a:srgbClr val="7AA8F5">
                <a:alpha val="3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54112" y="40507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A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출원 완료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596128" y="4645152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전건 2025.10 동시 출원  ·  Sprint 특허법인 이석기 변리사 협업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1168" y="3200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교차점에 아직 아무도 없습니다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1426464" cy="438912"/>
          </a:xfrm>
          <a:prstGeom prst="rect">
            <a:avLst/>
          </a:prstGeom>
          <a:solidFill>
            <a:srgbClr val="F0F3FA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95097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55648" y="914400"/>
            <a:ext cx="1517904" cy="438912"/>
          </a:xfrm>
          <a:prstGeom prst="rect">
            <a:avLst/>
          </a:prstGeom>
          <a:solidFill>
            <a:srgbClr val="F0F3FA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0512" y="950976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MBTI/심리검사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46704" y="914400"/>
            <a:ext cx="1517904" cy="438912"/>
          </a:xfrm>
          <a:prstGeom prst="rect">
            <a:avLst/>
          </a:prstGeom>
          <a:solidFill>
            <a:srgbClr val="F0F3FA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950976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웨어러블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914400"/>
            <a:ext cx="1517904" cy="438912"/>
          </a:xfrm>
          <a:prstGeom prst="rect">
            <a:avLst/>
          </a:prstGeom>
          <a:solidFill>
            <a:srgbClr val="F0F3FA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92624" y="950976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심리상담 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28816" y="914400"/>
            <a:ext cx="1883664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950976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N-KAI 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" y="1389888"/>
            <a:ext cx="142646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144475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기질 분석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55648" y="1389888"/>
            <a:ext cx="15179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144475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있음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46704" y="1389888"/>
            <a:ext cx="15179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144475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없음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1389888"/>
            <a:ext cx="15179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92624" y="144475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제한적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28816" y="1389888"/>
            <a:ext cx="1883664" cy="457200"/>
          </a:xfrm>
          <a:prstGeom prst="rect">
            <a:avLst/>
          </a:prstGeom>
          <a:solidFill>
            <a:srgbClr val="EEF5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44475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선천 기질 DNA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1892808"/>
            <a:ext cx="1426464" cy="457200"/>
          </a:xfrm>
          <a:prstGeom prst="rect">
            <a:avLst/>
          </a:prstGeom>
          <a:solidFill>
            <a:srgbClr val="F7F9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" y="194767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행동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755648" y="1892808"/>
            <a:ext cx="1517904" cy="457200"/>
          </a:xfrm>
          <a:prstGeom prst="rect">
            <a:avLst/>
          </a:prstGeom>
          <a:solidFill>
            <a:srgbClr val="F7F9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10512" y="194767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없음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46704" y="1892808"/>
            <a:ext cx="1517904" cy="457200"/>
          </a:xfrm>
          <a:prstGeom prst="rect">
            <a:avLst/>
          </a:prstGeom>
          <a:solidFill>
            <a:srgbClr val="F7F9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1568" y="194767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신체만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1892808"/>
            <a:ext cx="1517904" cy="457200"/>
          </a:xfrm>
          <a:prstGeom prst="rect">
            <a:avLst/>
          </a:prstGeom>
          <a:solidFill>
            <a:srgbClr val="F7F9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92624" y="194767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없음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28816" y="1892808"/>
            <a:ext cx="1883664" cy="457200"/>
          </a:xfrm>
          <a:prstGeom prst="rect">
            <a:avLst/>
          </a:prstGeom>
          <a:solidFill>
            <a:srgbClr val="EEF5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194767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카드+행동 실시간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" y="2395728"/>
            <a:ext cx="142646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" y="245059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T-60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55648" y="2395728"/>
            <a:ext cx="15179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10512" y="245059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없음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46704" y="2395728"/>
            <a:ext cx="15179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1568" y="245059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없음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37760" y="2395728"/>
            <a:ext cx="15179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92624" y="245059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없음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28816" y="2395728"/>
            <a:ext cx="1883664" cy="457200"/>
          </a:xfrm>
          <a:prstGeom prst="rect">
            <a:avLst/>
          </a:prstGeom>
          <a:solidFill>
            <a:srgbClr val="EEF5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245059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60분 전 경고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56032" y="2898648"/>
            <a:ext cx="1426464" cy="457200"/>
          </a:xfrm>
          <a:prstGeom prst="rect">
            <a:avLst/>
          </a:prstGeom>
          <a:solidFill>
            <a:srgbClr val="F7F9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" y="295351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프라이버시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755648" y="2898648"/>
            <a:ext cx="1517904" cy="457200"/>
          </a:xfrm>
          <a:prstGeom prst="rect">
            <a:avLst/>
          </a:prstGeom>
          <a:solidFill>
            <a:srgbClr val="F7F9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10512" y="295351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서버 저장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346704" y="2898648"/>
            <a:ext cx="1517904" cy="457200"/>
          </a:xfrm>
          <a:prstGeom prst="rect">
            <a:avLst/>
          </a:prstGeom>
          <a:solidFill>
            <a:srgbClr val="F7F9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01568" y="295351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클라우드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937760" y="2898648"/>
            <a:ext cx="1517904" cy="457200"/>
          </a:xfrm>
          <a:prstGeom prst="rect">
            <a:avLst/>
          </a:prstGeom>
          <a:solidFill>
            <a:srgbClr val="F7F9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92624" y="295351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상담사 공유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528816" y="2898648"/>
            <a:ext cx="1883664" cy="457200"/>
          </a:xfrm>
          <a:prstGeom prst="rect">
            <a:avLst/>
          </a:prstGeom>
          <a:solidFill>
            <a:srgbClr val="EEF5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0" y="295351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온디바이스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56032" y="3401568"/>
            <a:ext cx="142646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" y="345643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방어선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755648" y="3401568"/>
            <a:ext cx="15179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10512" y="345643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없음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346704" y="3401568"/>
            <a:ext cx="15179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01568" y="345643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AI특허없음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937760" y="3401568"/>
            <a:ext cx="15179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92624" y="345643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없음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528816" y="3401568"/>
            <a:ext cx="1883664" cy="457200"/>
          </a:xfrm>
          <a:prstGeom prst="rect">
            <a:avLst/>
          </a:prstGeom>
          <a:solidFill>
            <a:srgbClr val="EEF5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83680" y="34564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4건 출원완료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56032" y="3904488"/>
            <a:ext cx="1426464" cy="457200"/>
          </a:xfrm>
          <a:prstGeom prst="rect">
            <a:avLst/>
          </a:prstGeom>
          <a:solidFill>
            <a:srgbClr val="F7F9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10896" y="395935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SDK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1755648" y="3904488"/>
            <a:ext cx="1517904" cy="457200"/>
          </a:xfrm>
          <a:prstGeom prst="rect">
            <a:avLst/>
          </a:prstGeom>
          <a:solidFill>
            <a:srgbClr val="F7F9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810512" y="395935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불가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346704" y="3904488"/>
            <a:ext cx="1517904" cy="457200"/>
          </a:xfrm>
          <a:prstGeom prst="rect">
            <a:avLst/>
          </a:prstGeom>
          <a:solidFill>
            <a:srgbClr val="F7F9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01568" y="395935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제한적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937760" y="3904488"/>
            <a:ext cx="1517904" cy="457200"/>
          </a:xfrm>
          <a:prstGeom prst="rect">
            <a:avLst/>
          </a:prstGeom>
          <a:solidFill>
            <a:srgbClr val="F7F9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92624" y="395935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불가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528816" y="3904488"/>
            <a:ext cx="1883664" cy="457200"/>
          </a:xfrm>
          <a:prstGeom prst="rect">
            <a:avLst/>
          </a:prstGeom>
          <a:solidFill>
            <a:srgbClr val="EEF5FF"/>
          </a:solidFill>
          <a:ln w="12700">
            <a:solidFill>
              <a:srgbClr val="8898B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83680" y="395935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SDK 핵심전략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256032" y="4480560"/>
            <a:ext cx="8631936" cy="475488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4048" y="455371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"MBTI는 입이 말하고, N-KAI는 지갑이 말한다."  —  기질+행동+예측 융합, 전 세계 유일한 조합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7AA8F5"/>
          </a:solidFill>
          <a:ln w="12700">
            <a:solidFill>
              <a:srgbClr val="7AA8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A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1168" y="320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글로벌 확장 — Asia-First Strategy  ·  TAM $1.2T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28600" y="896112"/>
            <a:ext cx="1664208" cy="3913632"/>
          </a:xfrm>
          <a:prstGeom prst="rect">
            <a:avLst/>
          </a:prstGeom>
          <a:solidFill>
            <a:srgbClr val="EEF3FF"/>
          </a:solidFill>
          <a:ln w="1905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96112"/>
            <a:ext cx="1664208" cy="13716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106070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현재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83464" y="131673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🇰🇷 KR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3464" y="177393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한국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3464" y="2103120"/>
            <a:ext cx="1371600" cy="0"/>
          </a:xfrm>
          <a:prstGeom prst="line">
            <a:avLst/>
          </a:prstGeom>
          <a:noFill/>
          <a:ln w="10160">
            <a:solidFill>
              <a:srgbClr val="1B4FD8"/>
            </a:solidFill>
            <a:prstDash val="sysDash"/>
          </a:ln>
        </p:spPr>
      </p:sp>
      <p:sp>
        <p:nvSpPr>
          <p:cNvPr id="12" name="Shape 10"/>
          <p:cNvSpPr/>
          <p:nvPr/>
        </p:nvSpPr>
        <p:spPr>
          <a:xfrm>
            <a:off x="301752" y="2295144"/>
            <a:ext cx="109728" cy="109728"/>
          </a:xfrm>
          <a:prstGeom prst="ellipse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128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N-Score 726 (+40%)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1752" y="2734056"/>
            <a:ext cx="109728" cy="109728"/>
          </a:xfrm>
          <a:prstGeom prst="ellipse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NRA 97.0%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2" y="3172968"/>
            <a:ext cx="109728" cy="109728"/>
          </a:xfrm>
          <a:prstGeom prst="ellipse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906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510건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1752" y="3611880"/>
            <a:ext cx="109728" cy="109728"/>
          </a:xfrm>
          <a:prstGeom prst="ellipse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2958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롯데카드 미팅 추진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" y="4443984"/>
            <a:ext cx="1572768" cy="256032"/>
          </a:xfrm>
          <a:prstGeom prst="rect">
            <a:avLst/>
          </a:prstGeom>
          <a:solidFill>
            <a:srgbClr val="1B4FD8">
              <a:alpha val="20000"/>
            </a:srgbClr>
          </a:solidFill>
          <a:ln w="12700">
            <a:solidFill>
              <a:srgbClr val="1B4FD8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" y="445312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완료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93392" y="896112"/>
            <a:ext cx="1664208" cy="3913632"/>
          </a:xfrm>
          <a:prstGeom prst="rect">
            <a:avLst/>
          </a:prstGeom>
          <a:solidFill>
            <a:srgbClr val="FFF0F0"/>
          </a:solidFill>
          <a:ln w="19050">
            <a:solidFill>
              <a:srgbClr val="E03B3B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993392" y="896112"/>
            <a:ext cx="1664208" cy="137160"/>
          </a:xfrm>
          <a:prstGeom prst="rect">
            <a:avLst/>
          </a:prstGeom>
          <a:solidFill>
            <a:srgbClr val="E03B3B"/>
          </a:solidFill>
          <a:ln w="12700">
            <a:solidFill>
              <a:srgbClr val="E03B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8256" y="106070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2-A · 2027 Q1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48256" y="131673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🇯🇵 JP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048256" y="177393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일본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048256" y="2103120"/>
            <a:ext cx="1371600" cy="0"/>
          </a:xfrm>
          <a:prstGeom prst="line">
            <a:avLst/>
          </a:prstGeom>
          <a:noFill/>
          <a:ln w="10160">
            <a:solidFill>
              <a:srgbClr val="E03B3B"/>
            </a:solidFill>
            <a:prstDash val="sysDash"/>
          </a:ln>
        </p:spPr>
      </p:sp>
      <p:sp>
        <p:nvSpPr>
          <p:cNvPr id="28" name="Shape 26"/>
          <p:cNvSpPr/>
          <p:nvPr/>
        </p:nvSpPr>
        <p:spPr>
          <a:xfrm>
            <a:off x="2066544" y="2295144"/>
            <a:ext cx="109728" cy="109728"/>
          </a:xfrm>
          <a:prstGeom prst="ellipse">
            <a:avLst/>
          </a:prstGeom>
          <a:solidFill>
            <a:srgbClr val="E03B3B"/>
          </a:solidFill>
          <a:ln w="12700">
            <a:solidFill>
              <a:srgbClr val="E03B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21992" y="22128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DAU 9,600만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66544" y="2734056"/>
            <a:ext cx="109728" cy="109728"/>
          </a:xfrm>
          <a:prstGeom prst="ellipse">
            <a:avLst/>
          </a:prstGeom>
          <a:solidFill>
            <a:srgbClr val="E03B3B"/>
          </a:solidFill>
          <a:ln w="12700">
            <a:solidFill>
              <a:srgbClr val="E03B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21992" y="26517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혈액형×아키타입 현지화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066544" y="3172968"/>
            <a:ext cx="109728" cy="109728"/>
          </a:xfrm>
          <a:prstGeom prst="ellipse">
            <a:avLst/>
          </a:prstGeom>
          <a:solidFill>
            <a:srgbClr val="E03B3B"/>
          </a:solidFill>
          <a:ln w="12700">
            <a:solidFill>
              <a:srgbClr val="E03B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21992" y="30906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MZ세대 타이밍 니즈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048256" y="4443984"/>
            <a:ext cx="1572768" cy="256032"/>
          </a:xfrm>
          <a:prstGeom prst="rect">
            <a:avLst/>
          </a:prstGeom>
          <a:solidFill>
            <a:srgbClr val="E03B3B">
              <a:alpha val="20000"/>
            </a:srgbClr>
          </a:solidFill>
          <a:ln w="12700">
            <a:solidFill>
              <a:srgbClr val="E03B3B">
                <a:alpha val="3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48256" y="445312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선제 진출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758184" y="896112"/>
            <a:ext cx="1664208" cy="3913632"/>
          </a:xfrm>
          <a:prstGeom prst="rect">
            <a:avLst/>
          </a:prstGeom>
          <a:solidFill>
            <a:srgbClr val="E8FBF4"/>
          </a:solidFill>
          <a:ln w="19050">
            <a:solidFill>
              <a:srgbClr val="00B87A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758184" y="896112"/>
            <a:ext cx="1664208" cy="137160"/>
          </a:xfrm>
          <a:prstGeom prst="rect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13048" y="106070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2-B · 2027 Q2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813048" y="131673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🇮🇩 ID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813048" y="177393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동남아 3국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813048" y="2103120"/>
            <a:ext cx="1371600" cy="0"/>
          </a:xfrm>
          <a:prstGeom prst="line">
            <a:avLst/>
          </a:prstGeom>
          <a:noFill/>
          <a:ln w="10160">
            <a:solidFill>
              <a:srgbClr val="00B87A"/>
            </a:solidFill>
            <a:prstDash val="sysDash"/>
          </a:ln>
        </p:spPr>
      </p:sp>
      <p:sp>
        <p:nvSpPr>
          <p:cNvPr id="42" name="Shape 40"/>
          <p:cNvSpPr/>
          <p:nvPr/>
        </p:nvSpPr>
        <p:spPr>
          <a:xfrm>
            <a:off x="3831336" y="2295144"/>
            <a:ext cx="109728" cy="109728"/>
          </a:xfrm>
          <a:prstGeom prst="ellipse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86784" y="22128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미은행 인구 3~4억명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831336" y="2734056"/>
            <a:ext cx="109728" cy="109728"/>
          </a:xfrm>
          <a:prstGeom prst="ellipse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86784" y="26517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수용률 52%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831336" y="3172968"/>
            <a:ext cx="109728" cy="109728"/>
          </a:xfrm>
          <a:prstGeom prst="ellipse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86784" y="30906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퍼스트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813048" y="4443984"/>
            <a:ext cx="1572768" cy="256032"/>
          </a:xfrm>
          <a:prstGeom prst="rect">
            <a:avLst/>
          </a:prstGeom>
          <a:solidFill>
            <a:srgbClr val="00B87A">
              <a:alpha val="20000"/>
            </a:srgbClr>
          </a:solidFill>
          <a:ln w="12700">
            <a:solidFill>
              <a:srgbClr val="00B87A">
                <a:alpha val="3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13048" y="445312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진출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522976" y="896112"/>
            <a:ext cx="1664208" cy="3913632"/>
          </a:xfrm>
          <a:prstGeom prst="rect">
            <a:avLst/>
          </a:prstGeom>
          <a:solidFill>
            <a:srgbClr val="FDF6E3"/>
          </a:solidFill>
          <a:ln w="1905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522976" y="896112"/>
            <a:ext cx="1664208" cy="1371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0" y="106070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2-B · 2027 Q2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577840" y="131673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🇭🇰 HK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577840" y="177393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홍콩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577840" y="2103120"/>
            <a:ext cx="1371600" cy="0"/>
          </a:xfrm>
          <a:prstGeom prst="line">
            <a:avLst/>
          </a:prstGeom>
          <a:noFill/>
          <a:ln w="10160">
            <a:solidFill>
              <a:srgbClr val="D4A017"/>
            </a:solidFill>
            <a:prstDash val="sysDash"/>
          </a:ln>
        </p:spPr>
      </p:sp>
      <p:sp>
        <p:nvSpPr>
          <p:cNvPr id="56" name="Shape 54"/>
          <p:cNvSpPr/>
          <p:nvPr/>
        </p:nvSpPr>
        <p:spPr>
          <a:xfrm>
            <a:off x="5596128" y="2295144"/>
            <a:ext cx="109728" cy="10972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51576" y="22128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자산관리 93%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596128" y="2734056"/>
            <a:ext cx="109728" cy="10972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51576" y="26517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샌드박스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596128" y="3172968"/>
            <a:ext cx="109728" cy="10972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51576" y="30906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크로스보더 1위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577840" y="4443984"/>
            <a:ext cx="1572768" cy="256032"/>
          </a:xfrm>
          <a:prstGeom prst="rect">
            <a:avLst/>
          </a:prstGeom>
          <a:solidFill>
            <a:srgbClr val="D4A017">
              <a:alpha val="20000"/>
            </a:srgbClr>
          </a:solidFill>
          <a:ln w="12700">
            <a:solidFill>
              <a:srgbClr val="D4A017">
                <a:alpha val="35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77840" y="445312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거점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287768" y="896112"/>
            <a:ext cx="1664208" cy="3913632"/>
          </a:xfrm>
          <a:prstGeom prst="rect">
            <a:avLst/>
          </a:prstGeom>
          <a:solidFill>
            <a:srgbClr val="F2EFFE"/>
          </a:solidFill>
          <a:ln w="19050">
            <a:solidFill>
              <a:srgbClr val="6C4DF0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287768" y="896112"/>
            <a:ext cx="1664208" cy="137160"/>
          </a:xfrm>
          <a:prstGeom prst="rect">
            <a:avLst/>
          </a:prstGeom>
          <a:solidFill>
            <a:srgbClr val="6C4DF0"/>
          </a:solidFill>
          <a:ln w="12700">
            <a:solidFill>
              <a:srgbClr val="6C4D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42632" y="106070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2-B · 2027 Q2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7342632" y="131673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🇸🇬 SG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7342632" y="177393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D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싱가폴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7342632" y="2103120"/>
            <a:ext cx="1371600" cy="0"/>
          </a:xfrm>
          <a:prstGeom prst="line">
            <a:avLst/>
          </a:prstGeom>
          <a:noFill/>
          <a:ln w="10160">
            <a:solidFill>
              <a:srgbClr val="6C4DF0"/>
            </a:solidFill>
            <a:prstDash val="sysDash"/>
          </a:ln>
        </p:spPr>
      </p:sp>
      <p:sp>
        <p:nvSpPr>
          <p:cNvPr id="70" name="Shape 68"/>
          <p:cNvSpPr/>
          <p:nvPr/>
        </p:nvSpPr>
        <p:spPr>
          <a:xfrm>
            <a:off x="7360920" y="2295144"/>
            <a:ext cx="109728" cy="109728"/>
          </a:xfrm>
          <a:prstGeom prst="ellipse">
            <a:avLst/>
          </a:prstGeom>
          <a:solidFill>
            <a:srgbClr val="6C4DF0"/>
          </a:solidFill>
          <a:ln w="12700">
            <a:solidFill>
              <a:srgbClr val="6C4D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16368" y="22128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패밀리오피스 급증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360920" y="2734056"/>
            <a:ext cx="109728" cy="109728"/>
          </a:xfrm>
          <a:prstGeom prst="ellipse">
            <a:avLst/>
          </a:prstGeom>
          <a:solidFill>
            <a:srgbClr val="6C4DF0"/>
          </a:solidFill>
          <a:ln w="12700">
            <a:solidFill>
              <a:srgbClr val="6C4D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16368" y="26517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핀테크 급성장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360920" y="3172968"/>
            <a:ext cx="109728" cy="109728"/>
          </a:xfrm>
          <a:prstGeom prst="ellipse">
            <a:avLst/>
          </a:prstGeom>
          <a:solidFill>
            <a:srgbClr val="6C4DF0"/>
          </a:solidFill>
          <a:ln w="12700">
            <a:solidFill>
              <a:srgbClr val="6C4D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16368" y="30906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규제장벽 최소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342632" y="4443984"/>
            <a:ext cx="1572768" cy="256032"/>
          </a:xfrm>
          <a:prstGeom prst="rect">
            <a:avLst/>
          </a:prstGeom>
          <a:solidFill>
            <a:srgbClr val="6C4DF0">
              <a:alpha val="20000"/>
            </a:srgbClr>
          </a:solidFill>
          <a:ln w="12700">
            <a:solidFill>
              <a:srgbClr val="6C4DF0">
                <a:alpha val="35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342632" y="445312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거점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E03B3B"/>
          </a:solidFill>
          <a:ln w="12700">
            <a:solidFill>
              <a:srgbClr val="E03B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STRATEGY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1168" y="320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2-A 일본 선제 진출 — LINE×N-KAI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4160520" cy="3913632"/>
          </a:xfrm>
          <a:prstGeom prst="rect">
            <a:avLst/>
          </a:prstGeom>
          <a:solidFill>
            <a:srgbClr val="FFFFFF"/>
          </a:solidFill>
          <a:ln w="19050">
            <a:solidFill>
              <a:srgbClr val="E03B3B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987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탑재 축 — 9축 중 3축 경량화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417320"/>
            <a:ext cx="3931920" cy="713232"/>
          </a:xfrm>
          <a:prstGeom prst="rect">
            <a:avLst/>
          </a:prstGeom>
          <a:solidFill>
            <a:srgbClr val="EEF3FF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417320"/>
            <a:ext cx="502920" cy="713232"/>
          </a:xfrm>
          <a:prstGeom prst="rect">
            <a:avLst/>
          </a:prstGeom>
          <a:solidFill>
            <a:srgbClr val="1B4FD8">
              <a:alpha val="20000"/>
            </a:srgbClr>
          </a:solidFill>
          <a:ln w="12700">
            <a:solidFill>
              <a:srgbClr val="1B4FD8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08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47218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 행동 DNA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74650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510건 실증 완료. 일본 전자결제 직결.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221992"/>
            <a:ext cx="3931920" cy="713232"/>
          </a:xfrm>
          <a:prstGeom prst="rect">
            <a:avLst/>
          </a:prstGeom>
          <a:solidFill>
            <a:srgbClr val="EEF3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221992"/>
            <a:ext cx="502920" cy="713232"/>
          </a:xfrm>
          <a:prstGeom prst="rect">
            <a:avLst/>
          </a:prstGeom>
          <a:solidFill>
            <a:srgbClr val="D4A017">
              <a:alpha val="20000"/>
            </a:srgbClr>
          </a:solidFill>
          <a:ln w="12700">
            <a:solidFill>
              <a:srgbClr val="D4A017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3134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 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2768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타이밍 예측 (골든타임)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55117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 MZ세대 핵심 니즈 = '언제 행동하면 좋은가'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3026664"/>
            <a:ext cx="3931920" cy="713232"/>
          </a:xfrm>
          <a:prstGeom prst="rect">
            <a:avLst/>
          </a:prstGeom>
          <a:solidFill>
            <a:srgbClr val="EEF3FF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026664"/>
            <a:ext cx="502920" cy="713232"/>
          </a:xfrm>
          <a:prstGeom prst="rect">
            <a:avLst/>
          </a:prstGeom>
          <a:solidFill>
            <a:srgbClr val="00B87A">
              <a:alpha val="20000"/>
            </a:srgbClr>
          </a:solidFill>
          <a:ln w="12700">
            <a:solidFill>
              <a:srgbClr val="00B87A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1181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 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0815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개인화 타이밍 예측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35584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생년월일+행동 기반. 월 구독 전환율 최고.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74904" y="3703320"/>
            <a:ext cx="12618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A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4904" y="3703320"/>
            <a:ext cx="1261872" cy="91440"/>
          </a:xfrm>
          <a:prstGeom prst="rect">
            <a:avLst/>
          </a:prstGeom>
          <a:solidFill>
            <a:srgbClr val="4A5A7A"/>
          </a:solidFill>
          <a:ln w="12700">
            <a:solidFill>
              <a:srgbClr val="4A5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381304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" y="403250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0624" y="4297680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DNA 지문만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700784" y="3703320"/>
            <a:ext cx="1261872" cy="868680"/>
          </a:xfrm>
          <a:prstGeom prst="rect">
            <a:avLst/>
          </a:prstGeom>
          <a:solidFill>
            <a:srgbClr val="E03B3B"/>
          </a:solidFill>
          <a:ln w="25400">
            <a:solidFill>
              <a:srgbClr val="E03B3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700784" y="3703320"/>
            <a:ext cx="1261872" cy="91440"/>
          </a:xfrm>
          <a:prstGeom prst="rect">
            <a:avLst/>
          </a:prstGeom>
          <a:solidFill>
            <a:srgbClr val="E03B3B"/>
          </a:solidFill>
          <a:ln w="12700">
            <a:solidFill>
              <a:srgbClr val="E03B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46504" y="381304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46504" y="403250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C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¥980/월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746504" y="4297680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3축 + 골든타임 알림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26664" y="3703320"/>
            <a:ext cx="12618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026664" y="3703320"/>
            <a:ext cx="1261872" cy="9144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72384" y="381304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72384" y="403250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¥1,980/월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072384" y="4297680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커스텀 보고서 + API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914400"/>
            <a:ext cx="4187952" cy="3913632"/>
          </a:xfrm>
          <a:prstGeom prst="rect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25400" dir="8100000">
              <a:srgbClr val="1B4FD8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28032" y="9875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 로직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28032" y="1389888"/>
            <a:ext cx="3950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미니앱 SDK 탑재 (DAU 9,600만)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혈액형 DNA 문화 현지화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일본 MAU 행동 데이터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HK·SG B2B 영업의 이중 레퍼런스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Series A 투자 설득력 2배 상승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28032" y="28163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타임라인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828032" y="3200400"/>
            <a:ext cx="822960" cy="329184"/>
          </a:xfrm>
          <a:prstGeom prst="rect">
            <a:avLst/>
          </a:prstGeom>
          <a:solidFill>
            <a:srgbClr val="D4A017">
              <a:alpha val="18000"/>
            </a:srgbClr>
          </a:solidFill>
          <a:ln w="12700">
            <a:solidFill>
              <a:srgbClr val="D4A017">
                <a:alpha val="32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32369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Q3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715000" y="32369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현지화 파트너 탐색 · 3축 경량화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28032" y="3602736"/>
            <a:ext cx="822960" cy="329184"/>
          </a:xfrm>
          <a:prstGeom prst="rect">
            <a:avLst/>
          </a:prstGeom>
          <a:solidFill>
            <a:srgbClr val="E03B3B">
              <a:alpha val="18000"/>
            </a:srgbClr>
          </a:solidFill>
          <a:ln w="12700">
            <a:solidFill>
              <a:srgbClr val="E03B3B">
                <a:alpha val="32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36393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Q4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715000" y="363931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앱스토어 출시 (JP) · MAU 축적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28032" y="4005072"/>
            <a:ext cx="822960" cy="329184"/>
          </a:xfrm>
          <a:prstGeom prst="rect">
            <a:avLst/>
          </a:prstGeom>
          <a:solidFill>
            <a:srgbClr val="00B87A">
              <a:alpha val="18000"/>
            </a:srgbClr>
          </a:solidFill>
          <a:ln w="12700">
            <a:solidFill>
              <a:srgbClr val="00B87A">
                <a:alpha val="32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4041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Q1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715000" y="404164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전환 · 데이터 DB 완성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28032" y="4407408"/>
            <a:ext cx="822960" cy="329184"/>
          </a:xfrm>
          <a:prstGeom prst="rect">
            <a:avLst/>
          </a:prstGeom>
          <a:solidFill>
            <a:srgbClr val="1B4FD8">
              <a:alpha val="18000"/>
            </a:srgbClr>
          </a:solidFill>
          <a:ln w="12700">
            <a:solidFill>
              <a:srgbClr val="1B4FD8">
                <a:alpha val="32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8032" y="44439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Q2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715000" y="444398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 MAU → HK·SG B2B 실탄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194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49377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 투자 유치  —  3억~5억원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" y="1078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상용화 런웨이 18개월 확보  ·  첫 번째 수익 계약 → 롯데카드 PoC → Series A 브릿지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481328"/>
            <a:ext cx="2743200" cy="932688"/>
          </a:xfrm>
          <a:prstGeom prst="rect">
            <a:avLst/>
          </a:prstGeom>
          <a:solidFill>
            <a:srgbClr val="122040"/>
          </a:solidFill>
          <a:ln w="25400">
            <a:solidFill>
              <a:srgbClr val="D4A01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81328"/>
            <a:ext cx="2743200" cy="12801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6642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3억~5억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6032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목표 금액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481328"/>
            <a:ext cx="2743200" cy="932688"/>
          </a:xfrm>
          <a:prstGeom prst="rect">
            <a:avLst/>
          </a:prstGeom>
          <a:solidFill>
            <a:srgbClr val="122040"/>
          </a:solidFill>
          <a:ln w="25400">
            <a:solidFill>
              <a:srgbClr val="00B8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481328"/>
            <a:ext cx="2743200" cy="128016"/>
          </a:xfrm>
          <a:prstGeom prst="rect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6642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18개월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00400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런웨이 확보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44768" y="1481328"/>
            <a:ext cx="2743200" cy="932688"/>
          </a:xfrm>
          <a:prstGeom prst="rect">
            <a:avLst/>
          </a:prstGeom>
          <a:solidFill>
            <a:srgbClr val="122040"/>
          </a:solidFill>
          <a:ln w="25400">
            <a:solidFill>
              <a:srgbClr val="1B4F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44768" y="1481328"/>
            <a:ext cx="2743200" cy="128016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6642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F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 Q1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44768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브릿지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2578608"/>
            <a:ext cx="4937760" cy="2212848"/>
          </a:xfrm>
          <a:prstGeom prst="rect">
            <a:avLst/>
          </a:prstGeom>
          <a:solidFill>
            <a:srgbClr val="122040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" y="2651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  -  투자금 사용 계획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4048" y="3108960"/>
            <a:ext cx="658368" cy="310896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11810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15568" y="3136392"/>
            <a:ext cx="3520440" cy="256032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5568" y="3136392"/>
            <a:ext cx="1584198" cy="256032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0432" y="3145536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빌딩  약 1.5~2.2억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" y="3529584"/>
            <a:ext cx="658368" cy="310896"/>
          </a:xfrm>
          <a:prstGeom prst="rect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5387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115568" y="3557016"/>
            <a:ext cx="3520440" cy="256032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15568" y="3557016"/>
            <a:ext cx="1232154" cy="256032"/>
          </a:xfrm>
          <a:prstGeom prst="rect">
            <a:avLst/>
          </a:prstGeom>
          <a:solidFill>
            <a:srgbClr val="00B87A"/>
          </a:solidFill>
          <a:ln w="12700">
            <a:solidFill>
              <a:srgbClr val="00B8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0432" y="3566160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상용화 개발  약 1.0~1.8억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" y="3950208"/>
            <a:ext cx="658368" cy="3108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9593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115568" y="3977640"/>
            <a:ext cx="3520440" cy="256032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15568" y="3977640"/>
            <a:ext cx="422453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70432" y="3986784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영업·마케팅  약 0.4~0.6억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84048" y="4370832"/>
            <a:ext cx="658368" cy="310896"/>
          </a:xfrm>
          <a:prstGeom prst="rect">
            <a:avLst/>
          </a:prstGeom>
          <a:solidFill>
            <a:srgbClr val="6C4DF0"/>
          </a:solidFill>
          <a:ln w="12700">
            <a:solidFill>
              <a:srgbClr val="6C4D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37997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115568" y="4398264"/>
            <a:ext cx="3520440" cy="256032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15568" y="4398264"/>
            <a:ext cx="281635" cy="256032"/>
          </a:xfrm>
          <a:prstGeom prst="rect">
            <a:avLst/>
          </a:prstGeom>
          <a:solidFill>
            <a:srgbClr val="6C4DF0"/>
          </a:solidFill>
          <a:ln w="12700">
            <a:solidFill>
              <a:srgbClr val="6C4D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70432" y="4407408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특허·법무·운영  약 0.2~0.4억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13248" y="2578608"/>
            <a:ext cx="3493008" cy="2212848"/>
          </a:xfrm>
          <a:prstGeom prst="rect">
            <a:avLst/>
          </a:prstGeom>
          <a:solidFill>
            <a:srgbClr val="122040"/>
          </a:solidFill>
          <a:ln w="12700">
            <a:solidFill>
              <a:srgbClr val="00B8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541264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근거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577840" y="30815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방어선 완성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77840" y="330098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4건+상표 3건=총 7건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77840" y="35021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실증 데이터 보유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577840" y="372160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6개월 PoC · N-Score +40%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77840" y="39227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계약 임박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577840" y="4142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롯데카드 리스크실장 접촉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77840" y="4343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로드맵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577840" y="456285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일본→HK·SG · 아시아 8개국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D4A017">
              <a:alpha val="12000"/>
            </a:srgbClr>
          </a:solidFill>
          <a:ln w="12700">
            <a:solidFill>
              <a:srgbClr val="D4A017">
                <a:alpha val="2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800600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0C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지금이 골든윈도우입니다  ·  AI기본법 시행 + 특허 방어선 완성 + 롯데카드 리스크실장 접촉 — Pre-Seed 라운드 오픈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1B4FD8">
              <a:alpha val="8000"/>
            </a:srgbClr>
          </a:solidFill>
          <a:ln w="12700">
            <a:solidFill>
              <a:srgbClr val="1B4F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371600"/>
            <a:ext cx="2286000" cy="2286000"/>
          </a:xfrm>
          <a:prstGeom prst="ellipse">
            <a:avLst/>
          </a:prstGeom>
          <a:solidFill>
            <a:srgbClr val="D4A017">
              <a:alpha val="10000"/>
            </a:srgbClr>
          </a:solidFill>
          <a:ln w="12700">
            <a:solidFill>
              <a:srgbClr val="D4A017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N-KAI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Profile™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724912"/>
            <a:ext cx="457200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ysDash"/>
          </a:ln>
        </p:spPr>
      </p:sp>
      <p:sp>
        <p:nvSpPr>
          <p:cNvPr id="8" name="Text 6"/>
          <p:cNvSpPr/>
          <p:nvPr/>
        </p:nvSpPr>
        <p:spPr>
          <a:xfrm>
            <a:off x="457200" y="28803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D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행동이 쌓이면 예측이 되고,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21868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예측이 쌓이면 인생이 됩니다.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5029200" cy="749808"/>
          </a:xfrm>
          <a:prstGeom prst="rect">
            <a:avLst/>
          </a:prstGeom>
          <a:solidFill>
            <a:srgbClr val="122040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84048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이원재  ·  Founder &amp; CEO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cpo@neurinkairosai.com  ·  neurinkairosai.com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0974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Neurin Kairos AI Inc.  ·  뉴린카이로스에이아이(주)  ·  사업자번호 172-87-03400  ·  2026.03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N-KAI IR Deck v22 — Living Profile™</dc:title>
  <dc:subject>PptxGenJS Presentation</dc:subject>
  <dc:creator>Neurin Kairos AI</dc:creator>
  <cp:lastModifiedBy>Neurin Kairos AI</cp:lastModifiedBy>
  <cp:revision>1</cp:revision>
  <dcterms:created xsi:type="dcterms:W3CDTF">2026-03-19T07:52:49Z</dcterms:created>
  <dcterms:modified xsi:type="dcterms:W3CDTF">2026-03-19T07:52:49Z</dcterms:modified>
</cp:coreProperties>
</file>