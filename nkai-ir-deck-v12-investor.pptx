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7FF8"/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0"/>
            <a:ext cx="36576" cy="6858000"/>
          </a:xfrm>
          <a:prstGeom prst="rect">
            <a:avLst/>
          </a:prstGeom>
          <a:solidFill>
            <a:srgbClr val="3B7FF8">
              <a:alpha val="30000"/>
            </a:srgbClr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3B7FF8">
              <a:alpha val="8000"/>
            </a:srgbClr>
          </a:solidFill>
          <a:ln w="12700">
            <a:solidFill>
              <a:srgbClr val="3B7FF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0" y="3200400"/>
            <a:ext cx="3200400" cy="3200400"/>
          </a:xfrm>
          <a:prstGeom prst="ellipse">
            <a:avLst/>
          </a:prstGeom>
          <a:solidFill>
            <a:srgbClr val="0DD4BF">
              <a:alpha val="6000"/>
            </a:srgbClr>
          </a:solidFill>
          <a:ln w="12700">
            <a:solidFill>
              <a:srgbClr val="0DD4BF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02920"/>
            <a:ext cx="1828800" cy="347472"/>
          </a:xfrm>
          <a:prstGeom prst="rect">
            <a:avLst/>
          </a:prstGeom>
          <a:solidFill>
            <a:srgbClr val="D4AF37">
              <a:alpha val="18000"/>
            </a:srgbClr>
          </a:solidFill>
          <a:ln w="12700">
            <a:solidFill>
              <a:srgbClr val="D4AF37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02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뉴린카이로스에이아이(주)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353312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N-KAI </a:t>
            </a:r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Profile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27249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 데이터로 당신의 다음 타이밍을 예측하는 AI 플랫폼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3474720" cy="1554480"/>
          </a:xfrm>
          <a:prstGeom prst="rect">
            <a:avLst/>
          </a:prstGeom>
          <a:solidFill>
            <a:srgbClr val="0D1930"/>
          </a:solidFill>
          <a:ln w="12700">
            <a:solidFill>
              <a:srgbClr val="D4AF37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54787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₩5억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1792" y="4279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목표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" y="4572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 18개월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06240" y="3429000"/>
            <a:ext cx="3474720" cy="1554480"/>
          </a:xfrm>
          <a:prstGeom prst="rect">
            <a:avLst/>
          </a:prstGeom>
          <a:solidFill>
            <a:srgbClr val="0D1930"/>
          </a:solidFill>
          <a:ln w="12700">
            <a:solidFill>
              <a:srgbClr val="10D98A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354787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370832" y="4279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FDS 탐지율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70832" y="4572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 실측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955280" y="3429000"/>
            <a:ext cx="3474720" cy="1554480"/>
          </a:xfrm>
          <a:prstGeom prst="rect">
            <a:avLst/>
          </a:prstGeom>
          <a:solidFill>
            <a:srgbClr val="0D1930"/>
          </a:solidFill>
          <a:ln w="12700">
            <a:solidFill>
              <a:srgbClr val="A873F5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9872" y="354787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87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 4건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119872" y="4279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 IP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19872" y="4572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2025.10 출원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이원재  CEO  |  cpo@neurinkairosai.ai  |  010-3816-6178  |  2026.04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 WHY 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— 행동 기반 신용평가 법제화 직전 골든타임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3611880" cy="3566160"/>
          </a:xfrm>
          <a:prstGeom prst="rect">
            <a:avLst/>
          </a:prstGeom>
          <a:solidFill>
            <a:srgbClr val="0D1930"/>
          </a:solidFill>
          <a:ln w="19050">
            <a:solidFill>
              <a:srgbClr val="D4AF37">
                <a:alpha val="7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89888"/>
            <a:ext cx="3611880" cy="475488"/>
          </a:xfrm>
          <a:prstGeom prst="rect">
            <a:avLst/>
          </a:prstGeom>
          <a:solidFill>
            <a:srgbClr val="D4AF37">
              <a:alpha val="32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8988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2026  마이데이터 2.0 시행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9933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금융 비정형 데이터 개방 의무화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4505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행동 데이터 활용 법적 근거 완비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9077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선점 사업자 독점 기간 시작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389888"/>
            <a:ext cx="3611880" cy="3566160"/>
          </a:xfrm>
          <a:prstGeom prst="rect">
            <a:avLst/>
          </a:prstGeom>
          <a:solidFill>
            <a:srgbClr val="0D1930"/>
          </a:solidFill>
          <a:ln w="19050">
            <a:solidFill>
              <a:srgbClr val="0DD4BF">
                <a:alpha val="7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389888"/>
            <a:ext cx="3611880" cy="475488"/>
          </a:xfrm>
          <a:prstGeom prst="rect">
            <a:avLst/>
          </a:prstGeom>
          <a:solidFill>
            <a:srgbClr val="0DD4BF">
              <a:alpha val="32000"/>
            </a:srgbClr>
          </a:solidFill>
          <a:ln w="12700">
            <a:solidFill>
              <a:srgbClr val="0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138988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2026  금융소외계층 지원법 개정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19933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행동 기반 대안신용평가 공식 인정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34840" y="24505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정부 바우처 AI 연계 의무화 추진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34840" y="29077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N-KAI B2G 시장 직접 수혜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1389888"/>
            <a:ext cx="3611880" cy="3566160"/>
          </a:xfrm>
          <a:prstGeom prst="rect">
            <a:avLst/>
          </a:prstGeom>
          <a:solidFill>
            <a:srgbClr val="0D1930"/>
          </a:solidFill>
          <a:ln w="19050">
            <a:solidFill>
              <a:srgbClr val="10D98A">
                <a:alpha val="7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8160" y="1389888"/>
            <a:ext cx="3611880" cy="475488"/>
          </a:xfrm>
          <a:prstGeom prst="rect">
            <a:avLst/>
          </a:prstGeom>
          <a:solidFill>
            <a:srgbClr val="10D98A">
              <a:alpha val="32000"/>
            </a:srgbClr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47888" y="138988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2027  AI 신용평가 규제 샌드박스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75320" y="19933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특허 없으면 진입 불가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75320" y="24505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90일 실증 데이터 없으면 불가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75320" y="29077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N-KAI는 지금 이미 준비 완료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166360"/>
            <a:ext cx="11247120" cy="1371600"/>
          </a:xfrm>
          <a:prstGeom prst="rect">
            <a:avLst/>
          </a:prstGeom>
          <a:solidFill>
            <a:srgbClr val="D4AF37">
              <a:alpha val="12000"/>
            </a:srgbClr>
          </a:solidFill>
          <a:ln w="19050">
            <a:solidFill>
              <a:srgbClr val="D4AF37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52303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IS EVERYTHING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623560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투자하지 않으면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18개월 후 후발주자는 재현 불가</a:t>
            </a:r>
            <a:pPr indent="0" marL="0">
              <a:buNone/>
            </a:pPr>
            <a:r>
              <a:rPr lang="en-US" sz="1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특허 + 실증 데이터 + 법제화 수혜 삼중 해자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F04F4F"/>
          </a:solidFill>
          <a:ln w="12700">
            <a:solidFill>
              <a:srgbClr val="F04F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문제 정의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신용평가는 "과거"만 본다 — 미래 행동은 읽지 못한다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3611880" cy="4206240"/>
          </a:xfrm>
          <a:prstGeom prst="rect">
            <a:avLst/>
          </a:prstGeom>
          <a:solidFill>
            <a:srgbClr val="0D1930"/>
          </a:solidFill>
          <a:ln w="12700">
            <a:solidFill>
              <a:srgbClr val="F04F4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89888"/>
            <a:ext cx="3611880" cy="384048"/>
          </a:xfrm>
          <a:prstGeom prst="rect">
            <a:avLst/>
          </a:prstGeom>
          <a:solidFill>
            <a:srgbClr val="F04F4F">
              <a:alpha val="28000"/>
            </a:srgbClr>
          </a:solidFill>
          <a:ln w="12700">
            <a:solidFill>
              <a:srgbClr val="F04F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#01  후행 데이터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6개월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신용 반영 시차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연체 발생 후 반영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35021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6개월 이상 시차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384962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선제 대응 불가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97680" y="1389888"/>
            <a:ext cx="3611880" cy="4206240"/>
          </a:xfrm>
          <a:prstGeom prst="rect">
            <a:avLst/>
          </a:prstGeom>
          <a:solidFill>
            <a:srgbClr val="0D1930"/>
          </a:solidFill>
          <a:ln w="12700">
            <a:solidFill>
              <a:srgbClr val="D4AF37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1389888"/>
            <a:ext cx="3611880" cy="384048"/>
          </a:xfrm>
          <a:prstGeom prst="rect">
            <a:avLst/>
          </a:prstGeom>
          <a:solidFill>
            <a:srgbClr val="D4AF37">
              <a:alpha val="28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38988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#02  단편적 채널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34840" y="187452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1개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434840" y="27432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 데이터 채널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34840" y="31546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카드 거래만 활용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34840" y="35021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비정형 행동 제로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34840" y="384962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금융소외계층 사각지대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38160" y="1389888"/>
            <a:ext cx="3611880" cy="4206240"/>
          </a:xfrm>
          <a:prstGeom prst="rect">
            <a:avLst/>
          </a:prstGeom>
          <a:solidFill>
            <a:srgbClr val="0D1930"/>
          </a:solidFill>
          <a:ln w="12700">
            <a:solidFill>
              <a:srgbClr val="A873F5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38160" y="1389888"/>
            <a:ext cx="3611880" cy="384048"/>
          </a:xfrm>
          <a:prstGeom prst="rect">
            <a:avLst/>
          </a:prstGeom>
          <a:solidFill>
            <a:srgbClr val="A873F5">
              <a:alpha val="28000"/>
            </a:srgbClr>
          </a:solidFill>
          <a:ln w="12700">
            <a:solidFill>
              <a:srgbClr val="A873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138988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7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#03  정적 스코어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75320" y="187452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87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1회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8275320" y="27432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업데이트 주기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75320" y="31546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월 1회 업데이트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75320" y="35021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실시간 변화 미반영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75320" y="384962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타이밍 예측 불가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5779008"/>
            <a:ext cx="11247120" cy="658368"/>
          </a:xfrm>
          <a:prstGeom prst="rect">
            <a:avLst/>
          </a:prstGeom>
          <a:solidFill>
            <a:srgbClr val="3B7FF8">
              <a:alpha val="14000"/>
            </a:srgbClr>
          </a:solidFill>
          <a:ln w="12700">
            <a:solidFill>
              <a:srgbClr val="3B7FF8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7790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N-KAI는 9축 실시간 행동 데이터로 "지금 이 순간"의 신용을 예측합니다  —  창업 6개월 실증 완료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3B7FF8"/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솔루션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4대 특허 알고리즘 × 9축 Living Profile — 업계 최초 통합 엔진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601200" y="640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 4건 출원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2743200" cy="1463040"/>
          </a:xfrm>
          <a:prstGeom prst="rect">
            <a:avLst/>
          </a:prstGeom>
          <a:solidFill>
            <a:srgbClr val="0D1930"/>
          </a:solidFill>
          <a:ln w="12700">
            <a:solidFill>
              <a:srgbClr val="3B7FF8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89888"/>
            <a:ext cx="54864" cy="1463040"/>
          </a:xfrm>
          <a:prstGeom prst="rect">
            <a:avLst/>
          </a:prstGeom>
          <a:solidFill>
            <a:srgbClr val="3B7FF8"/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27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베이지안 추론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" y="195681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 실시간 업데이트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389888"/>
            <a:ext cx="2743200" cy="1463040"/>
          </a:xfrm>
          <a:prstGeom prst="rect">
            <a:avLst/>
          </a:prstGeom>
          <a:solidFill>
            <a:srgbClr val="0D1930"/>
          </a:solidFill>
          <a:ln w="12700">
            <a:solidFill>
              <a:srgbClr val="0DD4B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389888"/>
            <a:ext cx="54864" cy="1463040"/>
          </a:xfrm>
          <a:prstGeom prst="rect">
            <a:avLst/>
          </a:prstGeom>
          <a:solidFill>
            <a:srgbClr val="0DD4BF"/>
          </a:solidFill>
          <a:ln w="12700">
            <a:solidFill>
              <a:srgbClr val="0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1527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ROC 임계치 보정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47872" y="195681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θ=0.65 최적 판단기준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90088"/>
            <a:ext cx="2743200" cy="1463040"/>
          </a:xfrm>
          <a:prstGeom prst="rect">
            <a:avLst/>
          </a:prstGeom>
          <a:solidFill>
            <a:srgbClr val="0D1930"/>
          </a:solidFill>
          <a:ln w="12700">
            <a:solidFill>
              <a:srgbClr val="A873F5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90088"/>
            <a:ext cx="54864" cy="1463040"/>
          </a:xfrm>
          <a:prstGeom prst="rect">
            <a:avLst/>
          </a:prstGeom>
          <a:solidFill>
            <a:srgbClr val="A873F5"/>
          </a:solidFill>
          <a:ln w="12700">
            <a:solidFill>
              <a:srgbClr val="A873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127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7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비지도학습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1792" y="355701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숨겨진 패턴 자동 발굴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2990088"/>
            <a:ext cx="2743200" cy="1463040"/>
          </a:xfrm>
          <a:prstGeom prst="rect">
            <a:avLst/>
          </a:prstGeom>
          <a:solidFill>
            <a:srgbClr val="0D1930"/>
          </a:solidFill>
          <a:ln w="12700">
            <a:solidFill>
              <a:srgbClr val="D4AF37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83280" y="2990088"/>
            <a:ext cx="54864" cy="1463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3127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Neural CDE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47872" y="355701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시계열 행동 시뮬레이션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583680" y="1389888"/>
            <a:ext cx="5166360" cy="4526280"/>
          </a:xfrm>
          <a:prstGeom prst="rect">
            <a:avLst/>
          </a:prstGeom>
          <a:solidFill>
            <a:srgbClr val="0D1930"/>
          </a:solidFill>
          <a:ln w="12700">
            <a:solidFill>
              <a:srgbClr val="0DD4B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66560" y="15087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9축 Living Profile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766560" y="2057400"/>
            <a:ext cx="201168" cy="201168"/>
          </a:xfrm>
          <a:prstGeom prst="ellipse">
            <a:avLst/>
          </a:prstGeom>
          <a:solidFill>
            <a:srgbClr val="3B7FF8"/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22592" y="20116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소비 타이밍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326880" y="2057400"/>
            <a:ext cx="201168" cy="201168"/>
          </a:xfrm>
          <a:prstGeom prst="ellipse">
            <a:avLst/>
          </a:prstGeom>
          <a:solidFill>
            <a:srgbClr val="0DD4BF"/>
          </a:solidFill>
          <a:ln w="12700">
            <a:solidFill>
              <a:srgbClr val="0DD4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82912" y="20116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거래 규칙성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66560" y="2560320"/>
            <a:ext cx="201168" cy="201168"/>
          </a:xfrm>
          <a:prstGeom prst="ellipse">
            <a:avLst/>
          </a:prstGeom>
          <a:solidFill>
            <a:srgbClr val="A873F5"/>
          </a:solidFill>
          <a:ln w="12700">
            <a:solidFill>
              <a:srgbClr val="A873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22592" y="25146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카테고리 분포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326880" y="2560320"/>
            <a:ext cx="201168" cy="201168"/>
          </a:xfrm>
          <a:prstGeom prst="ellipse">
            <a:avLst/>
          </a:prstGeom>
          <a:solidFill>
            <a:srgbClr val="10D98A"/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82912" y="25146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위치 패턴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66560" y="3063240"/>
            <a:ext cx="201168" cy="20116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22592" y="3017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시간대 행동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326880" y="3063240"/>
            <a:ext cx="201168" cy="201168"/>
          </a:xfrm>
          <a:prstGeom prst="ellipse">
            <a:avLst/>
          </a:prstGeom>
          <a:solidFill>
            <a:srgbClr val="F04F4F"/>
          </a:solidFill>
          <a:ln w="12700">
            <a:solidFill>
              <a:srgbClr val="F04F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82912" y="3017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감정 소비 신호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66560" y="3566160"/>
            <a:ext cx="201168" cy="201168"/>
          </a:xfrm>
          <a:prstGeom prst="ellipse">
            <a:avLst/>
          </a:prstGeom>
          <a:solidFill>
            <a:srgbClr val="3B7FF8"/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22592" y="35204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사회적 관계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326880" y="3566160"/>
            <a:ext cx="201168" cy="201168"/>
          </a:xfrm>
          <a:prstGeom prst="ellipse">
            <a:avLst/>
          </a:prstGeom>
          <a:solidFill>
            <a:srgbClr val="0DD4BF"/>
          </a:solidFill>
          <a:ln w="12700">
            <a:solidFill>
              <a:srgbClr val="0DD4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82912" y="35204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디지털 활동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766560" y="4069080"/>
            <a:ext cx="201168" cy="201168"/>
          </a:xfrm>
          <a:prstGeom prst="ellipse">
            <a:avLst/>
          </a:prstGeom>
          <a:solidFill>
            <a:srgbClr val="A873F5"/>
          </a:solidFill>
          <a:ln w="12700">
            <a:solidFill>
              <a:srgbClr val="A873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22592" y="40233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⑨ 루틴 안정성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766560" y="5577840"/>
            <a:ext cx="4754880" cy="256032"/>
          </a:xfrm>
          <a:prstGeom prst="rect">
            <a:avLst/>
          </a:prstGeom>
          <a:solidFill>
            <a:srgbClr val="0DD4BF">
              <a:alpha val="15000"/>
            </a:srgbClr>
          </a:solidFill>
          <a:ln w="12700">
            <a:solidFill>
              <a:srgbClr val="0DD4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0" y="55778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N-Score (0~100) 실시간 산출  |  예측정확도 89.3%  |  창업 6개월 실증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10D98A"/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실증 데이터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창업 후 6개월 실증 완료 — 수치가 증명합니다  (2025.09.11 ~ 2026.03.14)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2212848" cy="1572768"/>
          </a:xfrm>
          <a:prstGeom prst="rect">
            <a:avLst/>
          </a:prstGeom>
          <a:solidFill>
            <a:srgbClr val="0D1930"/>
          </a:solidFill>
          <a:ln w="12700">
            <a:solidFill>
              <a:srgbClr val="3B7FF8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48132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52→78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2176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N-Score 향상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2468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+50% 실증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98064" y="1389888"/>
            <a:ext cx="2212848" cy="1572768"/>
          </a:xfrm>
          <a:prstGeom prst="rect">
            <a:avLst/>
          </a:prstGeom>
          <a:solidFill>
            <a:srgbClr val="0D1930"/>
          </a:solidFill>
          <a:ln w="12700">
            <a:solidFill>
              <a:srgbClr val="10D98A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07792" y="148132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907792" y="2176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NRA 교차검증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07792" y="2468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일관성률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38928" y="1389888"/>
            <a:ext cx="2212848" cy="1572768"/>
          </a:xfrm>
          <a:prstGeom prst="rect">
            <a:avLst/>
          </a:prstGeom>
          <a:solidFill>
            <a:srgbClr val="0D1930"/>
          </a:solidFill>
          <a:ln w="12700">
            <a:solidFill>
              <a:srgbClr val="D4AF37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48656" y="148132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248656" y="2176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FDS 탐지율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48656" y="2468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룰기반 +33%p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79792" y="1389888"/>
            <a:ext cx="2212848" cy="1572768"/>
          </a:xfrm>
          <a:prstGeom prst="rect">
            <a:avLst/>
          </a:prstGeom>
          <a:solidFill>
            <a:srgbClr val="0D1930"/>
          </a:solidFill>
          <a:ln w="12700">
            <a:solidFill>
              <a:srgbClr val="0DD4B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0" y="148132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589520" y="2176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오탐율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589520" y="2468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38% 대비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820656" y="1389888"/>
            <a:ext cx="2212848" cy="1572768"/>
          </a:xfrm>
          <a:prstGeom prst="rect">
            <a:avLst/>
          </a:prstGeom>
          <a:solidFill>
            <a:srgbClr val="0D1930"/>
          </a:solidFill>
          <a:ln w="12700">
            <a:solidFill>
              <a:srgbClr val="A873F5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930384" y="148132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7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bytes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930384" y="2176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ZKP 원데이터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930384" y="2468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프라이버시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127248"/>
            <a:ext cx="11247120" cy="2240280"/>
          </a:xfrm>
          <a:prstGeom prst="rect">
            <a:avLst/>
          </a:prstGeom>
          <a:solidFill>
            <a:srgbClr val="0D1930"/>
          </a:solidFill>
          <a:ln w="12700">
            <a:solidFill>
              <a:srgbClr val="4A5568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N-Score 진화 궤적 — 베이지안 수렴 증거 (창업 6개월 실측)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2960" y="3794760"/>
            <a:ext cx="384048" cy="38404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207008" y="3986784"/>
            <a:ext cx="1810512" cy="0"/>
          </a:xfrm>
          <a:prstGeom prst="line">
            <a:avLst/>
          </a:prstGeom>
          <a:noFill/>
          <a:ln w="12700">
            <a:solidFill>
              <a:srgbClr val="94A3B8">
                <a:alpha val="45000"/>
              </a:srgbClr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548640" y="4251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5537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25.12 베이스라인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017520" y="3794760"/>
            <a:ext cx="384048" cy="384048"/>
          </a:xfrm>
          <a:prstGeom prst="ellipse">
            <a:avLst/>
          </a:prstGeom>
          <a:solidFill>
            <a:srgbClr val="3B7FF8"/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01568" y="3986784"/>
            <a:ext cx="1810512" cy="0"/>
          </a:xfrm>
          <a:prstGeom prst="line">
            <a:avLst/>
          </a:prstGeom>
          <a:noFill/>
          <a:ln w="12700">
            <a:solidFill>
              <a:srgbClr val="3B7FF8">
                <a:alpha val="45000"/>
              </a:srgbClr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2743200" y="4251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651760" y="45537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수렴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212080" y="3794760"/>
            <a:ext cx="384048" cy="384048"/>
          </a:xfrm>
          <a:prstGeom prst="ellipse">
            <a:avLst/>
          </a:prstGeom>
          <a:solidFill>
            <a:srgbClr val="0DD4BF"/>
          </a:solidFill>
          <a:ln w="12700">
            <a:solidFill>
              <a:srgbClr val="0DD4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96128" y="3986784"/>
            <a:ext cx="1810512" cy="0"/>
          </a:xfrm>
          <a:prstGeom prst="line">
            <a:avLst/>
          </a:prstGeom>
          <a:noFill/>
          <a:ln w="12700">
            <a:solidFill>
              <a:srgbClr val="0DD4BF">
                <a:alpha val="45000"/>
              </a:srgbClr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4937760" y="4251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46320" y="45537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CDE 안정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406640" y="3794760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0664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790688" y="3986784"/>
            <a:ext cx="1810512" cy="0"/>
          </a:xfrm>
          <a:prstGeom prst="line">
            <a:avLst/>
          </a:prstGeom>
          <a:noFill/>
          <a:ln w="12700">
            <a:solidFill>
              <a:srgbClr val="D4AF37">
                <a:alpha val="45000"/>
              </a:srgbClr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7132320" y="4251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85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040880" y="45537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클러스터 C11 확정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601200" y="3794760"/>
            <a:ext cx="384048" cy="384048"/>
          </a:xfrm>
          <a:prstGeom prst="ellipse">
            <a:avLst/>
          </a:prstGeom>
          <a:solidFill>
            <a:srgbClr val="10D98A"/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0120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326880" y="4251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235440" y="45537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89.3%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7200" y="5532120"/>
            <a:ext cx="11247120" cy="749808"/>
          </a:xfrm>
          <a:prstGeom prst="rect">
            <a:avLst/>
          </a:prstGeom>
          <a:solidFill>
            <a:srgbClr val="10D98A">
              <a:alpha val="12000"/>
            </a:srgbClr>
          </a:solidFill>
          <a:ln w="12700">
            <a:solidFill>
              <a:srgbClr val="10D98A">
                <a:alpha val="6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5532120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N-Score +50%  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FDS 오탐 -78%  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indent="0" marL="0">
              <a:buNone/>
            </a:pPr>
            <a:r>
              <a:rPr lang="en-US" sz="130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취약계층 2,847명 발굴  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indent="0" marL="0">
              <a:buNone/>
            </a:pPr>
            <a:r>
              <a:rPr lang="en-US" sz="1300" b="1" dirty="0">
                <a:solidFill>
                  <a:srgbClr val="A87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반사실 순가치 ₩4.2억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시장 규모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₩1,000조 금융데이터 시장 — N-KAI 초기 TAM ₩162억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11880" cy="3200400"/>
          </a:xfrm>
          <a:prstGeom prst="rect">
            <a:avLst/>
          </a:prstGeom>
          <a:solidFill>
            <a:srgbClr val="0D1930"/>
          </a:solidFill>
          <a:ln w="25400">
            <a:solidFill>
              <a:srgbClr val="4A5568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유효 시장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₩1,000조+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국내 금융데이터·AI 전체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5478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핀테크·공공·보험 포함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645920"/>
            <a:ext cx="3611880" cy="2834640"/>
          </a:xfrm>
          <a:prstGeom prst="rect">
            <a:avLst/>
          </a:prstGeom>
          <a:solidFill>
            <a:srgbClr val="0D1930"/>
          </a:solidFill>
          <a:ln w="25400">
            <a:solidFill>
              <a:srgbClr val="3B7FF8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34840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3484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가능 시장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34840" y="2606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₩5,000억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434840" y="3383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행동 기반 신용평가 시장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34840" y="3730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금융사·공공기관 B2B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1828800"/>
            <a:ext cx="3611880" cy="2468880"/>
          </a:xfrm>
          <a:prstGeom prst="rect">
            <a:avLst/>
          </a:prstGeom>
          <a:solidFill>
            <a:srgbClr val="0D1930"/>
          </a:solidFill>
          <a:ln w="254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75320" y="1965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7532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공략 목표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75320" y="27889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₩162억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27532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카드사 8개 × SDK 계약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75320" y="3913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핀테크 30사 API + 지자체 20곳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892040"/>
            <a:ext cx="11247120" cy="868680"/>
          </a:xfrm>
          <a:prstGeom prst="rect">
            <a:avLst/>
          </a:prstGeom>
          <a:solidFill>
            <a:srgbClr val="0F2040"/>
          </a:solidFill>
          <a:ln w="12700">
            <a:solidFill>
              <a:srgbClr val="D4AF37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956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시나리오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3218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KR 공공 ₩162억 (2026~)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74720" y="53218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KR 금융사 ₩500억+ (2027~)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09360" y="53218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JP·ID 글로벌 (2028~)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44000" y="53218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Total ₩5,000억+ (2030)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0DD4BF"/>
          </a:solidFill>
          <a:ln w="12700">
            <a:solidFill>
              <a:srgbClr val="0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수익 모델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라이선스 × API × 공공 — 3트랙 반복 매출 구조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3611880" cy="4206240"/>
          </a:xfrm>
          <a:prstGeom prst="rect">
            <a:avLst/>
          </a:prstGeom>
          <a:solidFill>
            <a:srgbClr val="0D1930"/>
          </a:solidFill>
          <a:ln w="12700">
            <a:solidFill>
              <a:srgbClr val="3B7FF8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89888"/>
            <a:ext cx="3611880" cy="475488"/>
          </a:xfrm>
          <a:prstGeom prst="rect">
            <a:avLst/>
          </a:prstGeom>
          <a:solidFill>
            <a:srgbClr val="3B7FF8">
              <a:alpha val="28000"/>
            </a:srgbClr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 SaaS 구독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/ Premium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₩9,900~₩19,900/월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2944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국민 금융건강 리포트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3101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N-Score 개인 구독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657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ZKP 보증서 포함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40050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월 1회 자동 발송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5166360"/>
            <a:ext cx="3383280" cy="320040"/>
          </a:xfrm>
          <a:prstGeom prst="rect">
            <a:avLst/>
          </a:prstGeom>
          <a:solidFill>
            <a:srgbClr val="3B7FF8">
              <a:alpha val="20000"/>
            </a:srgbClr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5166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₩198만@200명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1389888"/>
            <a:ext cx="3611880" cy="4206240"/>
          </a:xfrm>
          <a:prstGeom prst="rect">
            <a:avLst/>
          </a:prstGeom>
          <a:solidFill>
            <a:srgbClr val="0D1930"/>
          </a:solidFill>
          <a:ln w="12700">
            <a:solidFill>
              <a:srgbClr val="D4AF37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1389888"/>
            <a:ext cx="3611880" cy="475488"/>
          </a:xfrm>
          <a:prstGeom prst="rect">
            <a:avLst/>
          </a:prstGeom>
          <a:solidFill>
            <a:srgbClr val="D4AF37">
              <a:alpha val="28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138988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 SDK 라이선스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34840" y="1965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N-Core 기술자문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34840" y="233172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₩49,900/월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434840" y="2944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₩20/call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34840" y="33101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4대 알고리즘 라이선스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34840" y="3657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금융사·핀테크 통합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34840" y="40050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전용 대시보드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07408" y="5166360"/>
            <a:ext cx="3383280" cy="320040"/>
          </a:xfrm>
          <a:prstGeom prst="rect">
            <a:avLst/>
          </a:prstGeom>
          <a:solidFill>
            <a:srgbClr val="D4AF37">
              <a:alpha val="2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62272" y="5166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₩150만@30사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38160" y="1389888"/>
            <a:ext cx="3611880" cy="4206240"/>
          </a:xfrm>
          <a:prstGeom prst="rect">
            <a:avLst/>
          </a:prstGeom>
          <a:solidFill>
            <a:srgbClr val="0D1930"/>
          </a:solidFill>
          <a:ln w="12700">
            <a:solidFill>
              <a:srgbClr val="10D98A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38160" y="1389888"/>
            <a:ext cx="3611880" cy="475488"/>
          </a:xfrm>
          <a:prstGeom prst="rect">
            <a:avLst/>
          </a:prstGeom>
          <a:solidFill>
            <a:srgbClr val="10D98A">
              <a:alpha val="28000"/>
            </a:srgbClr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5320" y="138988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 공공 라이선스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75320" y="1965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지자체 전용 엔진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275320" y="233172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₩5,000만~/년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8275320" y="2944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행안부 TRACK2 연계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75320" y="33101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지자체 복지 시스템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75320" y="3657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국민리포트 자동 발송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75320" y="40050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정책 A/B 자동 판정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47888" y="5166360"/>
            <a:ext cx="3383280" cy="320040"/>
          </a:xfrm>
          <a:prstGeom prst="rect">
            <a:avLst/>
          </a:prstGeom>
          <a:solidFill>
            <a:srgbClr val="10D98A">
              <a:alpha val="20000"/>
            </a:srgbClr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02752" y="5166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₩5천만×10곳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5742432"/>
            <a:ext cx="11247120" cy="658368"/>
          </a:xfrm>
          <a:prstGeom prst="rect">
            <a:avLst/>
          </a:prstGeom>
          <a:solidFill>
            <a:srgbClr val="0DD4BF">
              <a:alpha val="14000"/>
            </a:srgbClr>
          </a:solidFill>
          <a:ln w="12700">
            <a:solidFill>
              <a:srgbClr val="0DD4BF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5742432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30개 파트너 기준 월 ₩3,294만  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100개사 시 월 ₩1.1억  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indent="0" marL="0">
              <a:buNone/>
            </a:pPr>
            <a:r>
              <a:rPr lang="en-US" sz="13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 목표 18개월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A873F5"/>
          </a:solidFill>
          <a:ln w="12700">
            <a:solidFill>
              <a:srgbClr val="A873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기술 차별화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공개, How 블랙박스" — 모방 불가 IP 해자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1247120" cy="658368"/>
          </a:xfrm>
          <a:prstGeom prst="rect">
            <a:avLst/>
          </a:prstGeom>
          <a:solidFill>
            <a:srgbClr val="A873F5">
              <a:alpha val="18000"/>
            </a:srgbClr>
          </a:solidFill>
          <a:ln w="19050">
            <a:solidFill>
              <a:srgbClr val="A873F5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984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NICE·KCB는 과거 데이터 창고  </a:t>
            </a:r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"같은 카테고리가 아닙니다"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N-KAI는 실시간 행동 예측 엔진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21408"/>
            <a:ext cx="3749040" cy="411480"/>
          </a:xfrm>
          <a:prstGeom prst="rect">
            <a:avLst/>
          </a:prstGeom>
          <a:solidFill>
            <a:srgbClr val="0F2040"/>
          </a:solidFill>
          <a:ln w="12700">
            <a:solidFill>
              <a:srgbClr val="4A5568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214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121408"/>
            <a:ext cx="1554480" cy="411480"/>
          </a:xfrm>
          <a:prstGeom prst="rect">
            <a:avLst/>
          </a:prstGeom>
          <a:solidFill>
            <a:srgbClr val="0F2040"/>
          </a:solidFill>
          <a:ln w="12700">
            <a:solidFill>
              <a:srgbClr val="4A5568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1214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N-KAI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2121408"/>
            <a:ext cx="1554480" cy="411480"/>
          </a:xfrm>
          <a:prstGeom prst="rect">
            <a:avLst/>
          </a:prstGeom>
          <a:solidFill>
            <a:srgbClr val="0F2040"/>
          </a:solidFill>
          <a:ln w="12700">
            <a:solidFill>
              <a:srgbClr val="4A5568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1214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NICE·KCB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63840" y="2121408"/>
            <a:ext cx="1554480" cy="411480"/>
          </a:xfrm>
          <a:prstGeom prst="rect">
            <a:avLst/>
          </a:prstGeom>
          <a:solidFill>
            <a:srgbClr val="0F2040"/>
          </a:solidFill>
          <a:ln w="12700">
            <a:solidFill>
              <a:srgbClr val="4A5568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21214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핀테크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601200" y="2121408"/>
            <a:ext cx="2331720" cy="411480"/>
          </a:xfrm>
          <a:prstGeom prst="rect">
            <a:avLst/>
          </a:prstGeom>
          <a:solidFill>
            <a:srgbClr val="0F2040"/>
          </a:solidFill>
          <a:ln w="12700">
            <a:solidFill>
              <a:srgbClr val="4A5568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0" y="21214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AI스코어링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3749040" cy="475488"/>
          </a:xfrm>
          <a:prstGeom prst="rect">
            <a:avLst/>
          </a:prstGeom>
          <a:solidFill>
            <a:srgbClr val="0D1930">
              <a:alpha val="40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060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스코어링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89120" y="2606040"/>
            <a:ext cx="1554480" cy="475488"/>
          </a:xfrm>
          <a:prstGeom prst="rect">
            <a:avLst/>
          </a:prstGeom>
          <a:solidFill>
            <a:srgbClr val="0DD4BF">
              <a:alpha val="12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26060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26480" y="2606040"/>
            <a:ext cx="1554480" cy="475488"/>
          </a:xfrm>
          <a:prstGeom prst="rect">
            <a:avLst/>
          </a:prstGeom>
          <a:solidFill>
            <a:srgbClr val="0D1930">
              <a:alpha val="40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6060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863840" y="2606040"/>
            <a:ext cx="1554480" cy="475488"/>
          </a:xfrm>
          <a:prstGeom prst="rect">
            <a:avLst/>
          </a:prstGeom>
          <a:solidFill>
            <a:srgbClr val="0D1930">
              <a:alpha val="40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26060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601200" y="2606040"/>
            <a:ext cx="2331720" cy="475488"/>
          </a:xfrm>
          <a:prstGeom prst="rect">
            <a:avLst/>
          </a:prstGeom>
          <a:solidFill>
            <a:srgbClr val="0D1930">
              <a:alpha val="40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0" y="260604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200" y="3136392"/>
            <a:ext cx="3749040" cy="475488"/>
          </a:xfrm>
          <a:prstGeom prst="rect">
            <a:avLst/>
          </a:prstGeom>
          <a:solidFill>
            <a:srgbClr val="0D1930">
              <a:alpha val="40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13639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9축 비정형 행동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389120" y="3136392"/>
            <a:ext cx="1554480" cy="475488"/>
          </a:xfrm>
          <a:prstGeom prst="rect">
            <a:avLst/>
          </a:prstGeom>
          <a:solidFill>
            <a:srgbClr val="0DD4BF">
              <a:alpha val="12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313639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126480" y="3136392"/>
            <a:ext cx="1554480" cy="475488"/>
          </a:xfrm>
          <a:prstGeom prst="rect">
            <a:avLst/>
          </a:prstGeom>
          <a:solidFill>
            <a:srgbClr val="0D1930">
              <a:alpha val="40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313639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863840" y="3136392"/>
            <a:ext cx="1554480" cy="475488"/>
          </a:xfrm>
          <a:prstGeom prst="rect">
            <a:avLst/>
          </a:prstGeom>
          <a:solidFill>
            <a:srgbClr val="0D1930">
              <a:alpha val="40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0" y="313639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601200" y="3136392"/>
            <a:ext cx="2331720" cy="475488"/>
          </a:xfrm>
          <a:prstGeom prst="rect">
            <a:avLst/>
          </a:prstGeom>
          <a:solidFill>
            <a:srgbClr val="0D1930">
              <a:alpha val="40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92640" y="313639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57200" y="3666744"/>
            <a:ext cx="3749040" cy="475488"/>
          </a:xfrm>
          <a:prstGeom prst="rect">
            <a:avLst/>
          </a:prstGeom>
          <a:solidFill>
            <a:srgbClr val="0D1930">
              <a:alpha val="40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66674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ZKP 프라이버시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389120" y="3666744"/>
            <a:ext cx="1554480" cy="475488"/>
          </a:xfrm>
          <a:prstGeom prst="rect">
            <a:avLst/>
          </a:prstGeom>
          <a:solidFill>
            <a:srgbClr val="0DD4BF">
              <a:alpha val="12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80560" y="366674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126480" y="3666744"/>
            <a:ext cx="1554480" cy="475488"/>
          </a:xfrm>
          <a:prstGeom prst="rect">
            <a:avLst/>
          </a:prstGeom>
          <a:solidFill>
            <a:srgbClr val="0D1930">
              <a:alpha val="40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366674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7863840" y="3666744"/>
            <a:ext cx="1554480" cy="475488"/>
          </a:xfrm>
          <a:prstGeom prst="rect">
            <a:avLst/>
          </a:prstGeom>
          <a:solidFill>
            <a:srgbClr val="0D1930">
              <a:alpha val="40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55280" y="366674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9601200" y="3666744"/>
            <a:ext cx="2331720" cy="475488"/>
          </a:xfrm>
          <a:prstGeom prst="rect">
            <a:avLst/>
          </a:prstGeom>
          <a:solidFill>
            <a:srgbClr val="0D1930">
              <a:alpha val="40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92640" y="366674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457200" y="4197096"/>
            <a:ext cx="3749040" cy="475488"/>
          </a:xfrm>
          <a:prstGeom prst="rect">
            <a:avLst/>
          </a:prstGeom>
          <a:solidFill>
            <a:srgbClr val="0D1930">
              <a:alpha val="40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419709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4대 특허 알고리즘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389120" y="4197096"/>
            <a:ext cx="1554480" cy="475488"/>
          </a:xfrm>
          <a:prstGeom prst="rect">
            <a:avLst/>
          </a:prstGeom>
          <a:solidFill>
            <a:srgbClr val="0DD4BF">
              <a:alpha val="12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80560" y="419709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6126480" y="4197096"/>
            <a:ext cx="1554480" cy="475488"/>
          </a:xfrm>
          <a:prstGeom prst="rect">
            <a:avLst/>
          </a:prstGeom>
          <a:solidFill>
            <a:srgbClr val="0D1930">
              <a:alpha val="40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419709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7863840" y="4197096"/>
            <a:ext cx="1554480" cy="475488"/>
          </a:xfrm>
          <a:prstGeom prst="rect">
            <a:avLst/>
          </a:prstGeom>
          <a:solidFill>
            <a:srgbClr val="0D1930">
              <a:alpha val="40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55280" y="419709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9601200" y="4197096"/>
            <a:ext cx="2331720" cy="475488"/>
          </a:xfrm>
          <a:prstGeom prst="rect">
            <a:avLst/>
          </a:prstGeom>
          <a:solidFill>
            <a:srgbClr val="0D1930">
              <a:alpha val="40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92640" y="419709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457200" y="4727448"/>
            <a:ext cx="3749040" cy="475488"/>
          </a:xfrm>
          <a:prstGeom prst="rect">
            <a:avLst/>
          </a:prstGeom>
          <a:solidFill>
            <a:srgbClr val="0D1930">
              <a:alpha val="40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472744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공공×금융 통합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4389120" y="4727448"/>
            <a:ext cx="1554480" cy="475488"/>
          </a:xfrm>
          <a:prstGeom prst="rect">
            <a:avLst/>
          </a:prstGeom>
          <a:solidFill>
            <a:srgbClr val="0DD4BF">
              <a:alpha val="12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80560" y="47274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6126480" y="4727448"/>
            <a:ext cx="1554480" cy="475488"/>
          </a:xfrm>
          <a:prstGeom prst="rect">
            <a:avLst/>
          </a:prstGeom>
          <a:solidFill>
            <a:srgbClr val="0D1930">
              <a:alpha val="40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17920" y="47274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7863840" y="4727448"/>
            <a:ext cx="1554480" cy="475488"/>
          </a:xfrm>
          <a:prstGeom prst="rect">
            <a:avLst/>
          </a:prstGeom>
          <a:solidFill>
            <a:srgbClr val="0D1930">
              <a:alpha val="40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955280" y="47274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9601200" y="4727448"/>
            <a:ext cx="2331720" cy="475488"/>
          </a:xfrm>
          <a:prstGeom prst="rect">
            <a:avLst/>
          </a:prstGeom>
          <a:solidFill>
            <a:srgbClr val="0D1930">
              <a:alpha val="40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692640" y="472744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457200" y="5257800"/>
            <a:ext cx="3749040" cy="475488"/>
          </a:xfrm>
          <a:prstGeom prst="rect">
            <a:avLst/>
          </a:prstGeom>
          <a:solidFill>
            <a:srgbClr val="0D1930">
              <a:alpha val="40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52578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개방형 SDK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4389120" y="5257800"/>
            <a:ext cx="1554480" cy="475488"/>
          </a:xfrm>
          <a:prstGeom prst="rect">
            <a:avLst/>
          </a:prstGeom>
          <a:solidFill>
            <a:srgbClr val="0DD4BF">
              <a:alpha val="12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80560" y="52578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500" dirty="0"/>
          </a:p>
        </p:txBody>
      </p:sp>
      <p:sp>
        <p:nvSpPr>
          <p:cNvPr id="71" name="Shape 69"/>
          <p:cNvSpPr/>
          <p:nvPr/>
        </p:nvSpPr>
        <p:spPr>
          <a:xfrm>
            <a:off x="6126480" y="5257800"/>
            <a:ext cx="1554480" cy="475488"/>
          </a:xfrm>
          <a:prstGeom prst="rect">
            <a:avLst/>
          </a:prstGeom>
          <a:solidFill>
            <a:srgbClr val="0D1930">
              <a:alpha val="40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17920" y="52578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500" dirty="0"/>
          </a:p>
        </p:txBody>
      </p:sp>
      <p:sp>
        <p:nvSpPr>
          <p:cNvPr id="73" name="Shape 71"/>
          <p:cNvSpPr/>
          <p:nvPr/>
        </p:nvSpPr>
        <p:spPr>
          <a:xfrm>
            <a:off x="7863840" y="5257800"/>
            <a:ext cx="1554480" cy="475488"/>
          </a:xfrm>
          <a:prstGeom prst="rect">
            <a:avLst/>
          </a:prstGeom>
          <a:solidFill>
            <a:srgbClr val="0D1930">
              <a:alpha val="40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55280" y="52578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500" dirty="0"/>
          </a:p>
        </p:txBody>
      </p:sp>
      <p:sp>
        <p:nvSpPr>
          <p:cNvPr id="75" name="Shape 73"/>
          <p:cNvSpPr/>
          <p:nvPr/>
        </p:nvSpPr>
        <p:spPr>
          <a:xfrm>
            <a:off x="9601200" y="5257800"/>
            <a:ext cx="2331720" cy="475488"/>
          </a:xfrm>
          <a:prstGeom prst="rect">
            <a:avLst/>
          </a:prstGeom>
          <a:solidFill>
            <a:srgbClr val="0D1930">
              <a:alpha val="40000"/>
            </a:srgbClr>
          </a:solidFill>
          <a:ln w="1270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692640" y="525780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500" dirty="0"/>
          </a:p>
        </p:txBody>
      </p:sp>
      <p:sp>
        <p:nvSpPr>
          <p:cNvPr id="77" name="Shape 75"/>
          <p:cNvSpPr/>
          <p:nvPr/>
        </p:nvSpPr>
        <p:spPr>
          <a:xfrm>
            <a:off x="457200" y="5833872"/>
            <a:ext cx="11247120" cy="804672"/>
          </a:xfrm>
          <a:prstGeom prst="rect">
            <a:avLst/>
          </a:prstGeom>
          <a:solidFill>
            <a:srgbClr val="0F2040"/>
          </a:solidFill>
          <a:ln w="12700">
            <a:solidFill>
              <a:srgbClr val="D4AF37">
                <a:alpha val="60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0080" y="5870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후발주자 재현 불가 이유: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3200400" y="5870448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7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 4건 (등록까지 18개월+) 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indent="0" marL="0">
              <a:buNone/>
            </a:pPr>
            <a:r>
              <a:rPr lang="en-US" sz="120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90일 실증 데이터 (재현 불가) 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indent="0" marL="0">
              <a:buNone/>
            </a:pPr>
            <a:r>
              <a:rPr lang="en-US" sz="12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마이데이터 2.0 선점 (법적 우위)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Valuation &amp; Exit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₩25억 Pre-Money 근거 × 투자자 Exit 시나리오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5669280" cy="4736592"/>
          </a:xfrm>
          <a:prstGeom prst="rect">
            <a:avLst/>
          </a:prstGeom>
          <a:solidFill>
            <a:srgbClr val="0D1930"/>
          </a:solidFill>
          <a:ln w="12700">
            <a:solidFill>
              <a:srgbClr val="D4AF37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산출 근거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029968"/>
            <a:ext cx="5376672" cy="713232"/>
          </a:xfrm>
          <a:prstGeom prst="rect">
            <a:avLst/>
          </a:prstGeom>
          <a:solidFill>
            <a:srgbClr val="A873F5">
              <a:alpha val="10000"/>
            </a:srgbClr>
          </a:solidFill>
          <a:ln w="12700">
            <a:solidFill>
              <a:srgbClr val="A873F5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0848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자산가치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0" y="20848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7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₩6억+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0" y="208483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 4건 × 출원비+기대가치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834640"/>
            <a:ext cx="5376672" cy="713232"/>
          </a:xfrm>
          <a:prstGeom prst="rect">
            <a:avLst/>
          </a:prstGeom>
          <a:solidFill>
            <a:srgbClr val="10D98A">
              <a:alpha val="10000"/>
            </a:srgbClr>
          </a:solidFill>
          <a:ln w="12700">
            <a:solidFill>
              <a:srgbClr val="10D98A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88950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실증 프리미엄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43200" y="288950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₩5억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2889504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90일 데이터 + D90 N-Score 78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639312"/>
            <a:ext cx="5376672" cy="713232"/>
          </a:xfrm>
          <a:prstGeom prst="rect">
            <a:avLst/>
          </a:prstGeom>
          <a:solidFill>
            <a:srgbClr val="3B7FF8">
              <a:alpha val="10000"/>
            </a:srgbClr>
          </a:solidFill>
          <a:ln w="12700">
            <a:solidFill>
              <a:srgbClr val="3B7FF8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69417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핀테크 IP Seed 배수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43200" y="3694176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 8~12x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0" y="3694176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AI스코어링 업계 평균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4443984"/>
            <a:ext cx="5376672" cy="713232"/>
          </a:xfrm>
          <a:prstGeom prst="rect">
            <a:avLst/>
          </a:prstGeom>
          <a:solidFill>
            <a:srgbClr val="0DD4BF">
              <a:alpha val="10000"/>
            </a:srgbClr>
          </a:solidFill>
          <a:ln w="12700">
            <a:solidFill>
              <a:srgbClr val="0DD4BF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49884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목표 기준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43200" y="449884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₩20~30억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114800" y="449884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ARR ₩3억 × 8~10x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5230368"/>
            <a:ext cx="5376672" cy="658368"/>
          </a:xfrm>
          <a:prstGeom prst="rect">
            <a:avLst/>
          </a:prstGeom>
          <a:solidFill>
            <a:srgbClr val="D4AF37">
              <a:alpha val="22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52578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Pre-Money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17520" y="523036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₩25억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6400800" y="1389888"/>
            <a:ext cx="5349240" cy="4736592"/>
          </a:xfrm>
          <a:prstGeom prst="rect">
            <a:avLst/>
          </a:prstGeom>
          <a:solidFill>
            <a:srgbClr val="0D1930"/>
          </a:solidFill>
          <a:ln w="12700">
            <a:solidFill>
              <a:srgbClr val="0DD4B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투자자 Exit 시나리오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537960" y="1965960"/>
            <a:ext cx="5074920" cy="1261872"/>
          </a:xfrm>
          <a:prstGeom prst="rect">
            <a:avLst/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7960" y="1965960"/>
            <a:ext cx="54864" cy="126187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2011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1  전략적 M&amp;A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314432" y="2011680"/>
            <a:ext cx="1143000" cy="329184"/>
          </a:xfrm>
          <a:prstGeom prst="rect">
            <a:avLst/>
          </a:prstGeom>
          <a:solidFill>
            <a:srgbClr val="D4AF37">
              <a:alpha val="40000"/>
            </a:srgbClr>
          </a:solidFill>
          <a:ln w="12700">
            <a:solidFill>
              <a:srgbClr val="D4AF37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14432" y="201168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314432" y="236829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2027~2028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75120" y="24688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롯데카드·신한카드·카카오페이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675120" y="27249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KB·하나 핀테크 M&amp;A 활발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675120" y="29809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IP 4건 포함 인수가 ₩100~300억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537960" y="3355848"/>
            <a:ext cx="5074920" cy="1261872"/>
          </a:xfrm>
          <a:prstGeom prst="rect">
            <a:avLst/>
          </a:prstGeom>
          <a:solidFill>
            <a:srgbClr val="3B7FF8">
              <a:alpha val="10000"/>
            </a:srgbClr>
          </a:solidFill>
          <a:ln w="12700">
            <a:solidFill>
              <a:srgbClr val="3B7FF8">
                <a:alpha val="5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37960" y="3355848"/>
            <a:ext cx="54864" cy="1261872"/>
          </a:xfrm>
          <a:prstGeom prst="rect">
            <a:avLst/>
          </a:prstGeom>
          <a:solidFill>
            <a:srgbClr val="3B7FF8"/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34015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2  코스닥 IPO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0314432" y="3401568"/>
            <a:ext cx="1143000" cy="329184"/>
          </a:xfrm>
          <a:prstGeom prst="rect">
            <a:avLst/>
          </a:prstGeom>
          <a:solidFill>
            <a:srgbClr val="3B7FF8">
              <a:alpha val="40000"/>
            </a:srgbClr>
          </a:solidFill>
          <a:ln w="12700">
            <a:solidFill>
              <a:srgbClr val="3B7FF8">
                <a:alpha val="8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14432" y="340156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314432" y="375818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2029~2030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675120" y="38587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데이터 기업 코스닥 평균 PSR 15x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675120" y="41148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ARR ₩50억 달성 시 밸류 ₩750억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675120" y="43708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기술특례 상장 트랙 가능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537960" y="4745736"/>
            <a:ext cx="5074920" cy="1261872"/>
          </a:xfrm>
          <a:prstGeom prst="rect">
            <a:avLst/>
          </a:prstGeom>
          <a:solidFill>
            <a:srgbClr val="10D98A">
              <a:alpha val="10000"/>
            </a:srgbClr>
          </a:solidFill>
          <a:ln w="12700">
            <a:solidFill>
              <a:srgbClr val="10D98A">
                <a:alpha val="5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37960" y="4745736"/>
            <a:ext cx="54864" cy="1261872"/>
          </a:xfrm>
          <a:prstGeom prst="rect">
            <a:avLst/>
          </a:prstGeom>
          <a:solidFill>
            <a:srgbClr val="10D98A"/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75120" y="47914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3  글로벌 VC Series B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10314432" y="4791456"/>
            <a:ext cx="1143000" cy="329184"/>
          </a:xfrm>
          <a:prstGeom prst="rect">
            <a:avLst/>
          </a:prstGeom>
          <a:solidFill>
            <a:srgbClr val="10D98A">
              <a:alpha val="40000"/>
            </a:srgbClr>
          </a:solidFill>
          <a:ln w="12700">
            <a:solidFill>
              <a:srgbClr val="10D98A">
                <a:alpha val="8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314432" y="479145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314432" y="514807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2028~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675120" y="52486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JP·ID 시장 진출 후 해외 VC 유치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675120" y="55046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소프트뱅크·세쿼이아 아시아 타깃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675120" y="57607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블록체인 ZKP 특허 글로벌 가치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3B7FF8"/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로드맵 × 자금 사용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₩5억 Seed — 18개월 BEP 달성 로드맵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3611880" cy="2999232"/>
          </a:xfrm>
          <a:prstGeom prst="rect">
            <a:avLst/>
          </a:prstGeom>
          <a:solidFill>
            <a:srgbClr val="0D1930"/>
          </a:solidFill>
          <a:ln w="19050">
            <a:solidFill>
              <a:srgbClr val="3B7FF8">
                <a:alpha val="7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89888"/>
            <a:ext cx="3611880" cy="457200"/>
          </a:xfrm>
          <a:prstGeom prst="rect">
            <a:avLst/>
          </a:prstGeom>
          <a:solidFill>
            <a:srgbClr val="3B7FF8">
              <a:alpha val="32000"/>
            </a:srgbClr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898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2026 Q2~Q3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9385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진입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롯데카드 LOI 체결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7706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행안부 TRACK2 입상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1181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초기 파트너 3사 계약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4655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 엔지니어 채용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3611880" cy="384048"/>
          </a:xfrm>
          <a:prstGeom prst="rect">
            <a:avLst/>
          </a:prstGeom>
          <a:solidFill>
            <a:srgbClr val="3B7FF8">
              <a:alpha val="28000"/>
            </a:srgbClr>
          </a:solidFill>
          <a:ln w="19050">
            <a:solidFill>
              <a:srgbClr val="3B7FF8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45262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₩1천만+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1389888"/>
            <a:ext cx="3611880" cy="2999232"/>
          </a:xfrm>
          <a:prstGeom prst="rect">
            <a:avLst/>
          </a:prstGeom>
          <a:solidFill>
            <a:srgbClr val="0D1930"/>
          </a:solidFill>
          <a:ln w="19050">
            <a:solidFill>
              <a:srgbClr val="0DD4BF">
                <a:alpha val="7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389888"/>
            <a:ext cx="3611880" cy="457200"/>
          </a:xfrm>
          <a:prstGeom prst="rect">
            <a:avLst/>
          </a:prstGeom>
          <a:solidFill>
            <a:srgbClr val="0DD4BF">
              <a:alpha val="32000"/>
            </a:srgbClr>
          </a:solidFill>
          <a:ln w="12700">
            <a:solidFill>
              <a:srgbClr val="0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07408" y="13898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2026 Q4~Q1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07408" y="19385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스케일업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34840" y="2423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파트너 15사 API 계약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34840" y="27706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지자체 5곳 파일럿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31181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N-Score SaaS 공식출시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34840" y="34655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Series A 준비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0" y="4526280"/>
            <a:ext cx="3611880" cy="384048"/>
          </a:xfrm>
          <a:prstGeom prst="rect">
            <a:avLst/>
          </a:prstGeom>
          <a:solidFill>
            <a:srgbClr val="0DD4BF">
              <a:alpha val="28000"/>
            </a:srgbClr>
          </a:solidFill>
          <a:ln w="19050">
            <a:solidFill>
              <a:srgbClr val="0DD4BF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07408" y="45262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₩3,294만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38160" y="1389888"/>
            <a:ext cx="3611880" cy="2999232"/>
          </a:xfrm>
          <a:prstGeom prst="rect">
            <a:avLst/>
          </a:prstGeom>
          <a:solidFill>
            <a:srgbClr val="0D1930"/>
          </a:solidFill>
          <a:ln w="19050">
            <a:solidFill>
              <a:srgbClr val="D4AF37">
                <a:alpha val="7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38160" y="1389888"/>
            <a:ext cx="3611880" cy="457200"/>
          </a:xfrm>
          <a:prstGeom prst="rect">
            <a:avLst/>
          </a:prstGeom>
          <a:solidFill>
            <a:srgbClr val="D4AF37">
              <a:alpha val="32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47888" y="13898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2027 Q2~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47888" y="19385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지배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75320" y="2423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파트너 50사+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75320" y="27706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전국 지자체 30곳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75320" y="31181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JP·ID 글로벌 진출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75320" y="34655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ARR ₩50억 달성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38160" y="4526280"/>
            <a:ext cx="3611880" cy="384048"/>
          </a:xfrm>
          <a:prstGeom prst="rect">
            <a:avLst/>
          </a:prstGeom>
          <a:solidFill>
            <a:srgbClr val="D4AF37">
              <a:alpha val="28000"/>
            </a:srgbClr>
          </a:solidFill>
          <a:ln w="19050">
            <a:solidFill>
              <a:srgbClr val="D4AF37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47888" y="45262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₩50억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5120640"/>
            <a:ext cx="11247120" cy="1417320"/>
          </a:xfrm>
          <a:prstGeom prst="rect">
            <a:avLst/>
          </a:prstGeom>
          <a:solidFill>
            <a:srgbClr val="0F2040"/>
          </a:solidFill>
          <a:ln w="12700">
            <a:solidFill>
              <a:srgbClr val="D4AF37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19379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 — ₩5억 Seed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" y="5623560"/>
            <a:ext cx="914400" cy="256032"/>
          </a:xfrm>
          <a:prstGeom prst="rect">
            <a:avLst/>
          </a:prstGeom>
          <a:solidFill>
            <a:srgbClr val="3B7FF8">
              <a:alpha val="30000"/>
            </a:srgbClr>
          </a:solidFill>
          <a:ln w="12700">
            <a:solidFill>
              <a:srgbClr val="3B7F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45920" y="56235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개발  40%  ₩2억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83280" y="5623560"/>
            <a:ext cx="914400" cy="256032"/>
          </a:xfrm>
          <a:prstGeom prst="rect">
            <a:avLst/>
          </a:prstGeom>
          <a:solidFill>
            <a:srgbClr val="0DD4BF">
              <a:alpha val="30000"/>
            </a:srgbClr>
          </a:solidFill>
          <a:ln w="12700">
            <a:solidFill>
              <a:srgbClr val="0DD4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0" y="56235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영업·마케팅  30%  ₩1.5억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26480" y="5623560"/>
            <a:ext cx="914400" cy="256032"/>
          </a:xfrm>
          <a:prstGeom prst="rect">
            <a:avLst/>
          </a:prstGeom>
          <a:solidFill>
            <a:srgbClr val="A873F5">
              <a:alpha val="30000"/>
            </a:srgbClr>
          </a:solidFill>
          <a:ln w="12700">
            <a:solidFill>
              <a:srgbClr val="A873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0" y="56235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인력·채용  20%  ₩1억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869680" y="5623560"/>
            <a:ext cx="914400" cy="256032"/>
          </a:xfrm>
          <a:prstGeom prst="rect">
            <a:avLst/>
          </a:prstGeom>
          <a:solidFill>
            <a:srgbClr val="D4AF37">
              <a:alpha val="3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75520" y="56235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운영·법무  10%  ₩0.5억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0DD4BF"/>
          </a:solidFill>
          <a:ln w="12700">
            <a:solidFill>
              <a:srgbClr val="0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팀 &amp; 창업 스토리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 사람인가 — 숫자가 아닌 이유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1247120" cy="1508760"/>
          </a:xfrm>
          <a:prstGeom prst="rect">
            <a:avLst/>
          </a:prstGeom>
          <a:solidFill>
            <a:srgbClr val="0D1930"/>
          </a:solidFill>
          <a:ln w="19050">
            <a:solidFill>
              <a:srgbClr val="0DD4BF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98448"/>
            <a:ext cx="73152" cy="1508760"/>
          </a:xfrm>
          <a:prstGeom prst="rect">
            <a:avLst/>
          </a:prstGeom>
          <a:solidFill>
            <a:srgbClr val="0DD4BF"/>
          </a:solidFill>
          <a:ln w="12700">
            <a:solidFill>
              <a:srgbClr val="0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898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"2022년 폐암수술 후, 생존을 위해 매일 아침 루틴을 데이터로 기록했습니다.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물, 삶은계란 2개, 그릭요거트 — 3.5년 째 단 한 번도 어기지 않았습니다.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순간 깨달았습니다. 행동 패턴이 미래를 예측한다는 것을. N-KAI는 그 통찰에서 시작됐습니다."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44368"/>
            <a:ext cx="5303520" cy="3200400"/>
          </a:xfrm>
          <a:prstGeom prst="rect">
            <a:avLst/>
          </a:prstGeom>
          <a:solidFill>
            <a:srgbClr val="0D1930"/>
          </a:solidFill>
          <a:ln w="12700">
            <a:solidFill>
              <a:srgbClr val="3B7FF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0358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커리어 타임라인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" y="3493008"/>
            <a:ext cx="146304" cy="14630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639312"/>
            <a:ext cx="0" cy="457200"/>
          </a:xfrm>
          <a:prstGeom prst="line">
            <a:avLst/>
          </a:prstGeom>
          <a:noFill/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4381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2004~2024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40280" y="343814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롯데카드 20년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40280" y="362102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FDS·여신심사·마케팅·신사업기획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" y="3950208"/>
            <a:ext cx="146304" cy="146304"/>
          </a:xfrm>
          <a:prstGeom prst="ellipse">
            <a:avLst/>
          </a:prstGeom>
          <a:solidFill>
            <a:srgbClr val="F04F4F"/>
          </a:solidFill>
          <a:ln w="12700">
            <a:solidFill>
              <a:srgbClr val="F04F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4096512"/>
            <a:ext cx="0" cy="457200"/>
          </a:xfrm>
          <a:prstGeom prst="line">
            <a:avLst/>
          </a:prstGeom>
          <a:noFill/>
          <a:ln w="12700">
            <a:solidFill>
              <a:srgbClr val="F04F4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8953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2022.09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40280" y="389534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폐암수술 &amp; 생존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40280" y="407822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모닝루틴 3.5년 연속 — Posterior 0.99+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" y="4407408"/>
            <a:ext cx="146304" cy="146304"/>
          </a:xfrm>
          <a:prstGeom prst="ellipse">
            <a:avLst/>
          </a:prstGeom>
          <a:solidFill>
            <a:srgbClr val="0DD4BF"/>
          </a:solidFill>
          <a:ln w="12700">
            <a:solidFill>
              <a:srgbClr val="0DD4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4553712"/>
            <a:ext cx="0" cy="457200"/>
          </a:xfrm>
          <a:prstGeom prst="line">
            <a:avLst/>
          </a:prstGeom>
          <a:noFill/>
          <a:ln w="12700">
            <a:solidFill>
              <a:srgbClr val="0DD4B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43525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40280" y="435254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뉴린카이로스에이아이 창업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40280" y="453542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 설립, IP 전략 동시 착수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" y="4864608"/>
            <a:ext cx="146304" cy="146304"/>
          </a:xfrm>
          <a:prstGeom prst="ellipse">
            <a:avLst/>
          </a:prstGeom>
          <a:solidFill>
            <a:srgbClr val="A873F5"/>
          </a:solidFill>
          <a:ln w="12700">
            <a:solidFill>
              <a:srgbClr val="A873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5010912"/>
            <a:ext cx="0" cy="457200"/>
          </a:xfrm>
          <a:prstGeom prst="line">
            <a:avLst/>
          </a:prstGeom>
          <a:noFill/>
          <a:ln w="12700">
            <a:solidFill>
              <a:srgbClr val="A873F5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48097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7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2025.10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40280" y="480974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 4건 + 상표 3건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40280" y="499262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4대 알고리즘 동시 출원 완료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1792" y="5321808"/>
            <a:ext cx="146304" cy="146304"/>
          </a:xfrm>
          <a:prstGeom prst="ellipse">
            <a:avLst/>
          </a:prstGeom>
          <a:solidFill>
            <a:srgbClr val="10D98A"/>
          </a:solidFill>
          <a:ln w="12700">
            <a:solidFill>
              <a:srgbClr val="10D9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52669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2025.09~2026.03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40280" y="526694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창업 6개월 실증 완료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240280" y="544982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N-Score 78 / 예측정확도 89.3%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35040" y="2944368"/>
            <a:ext cx="5715000" cy="3200400"/>
          </a:xfrm>
          <a:prstGeom prst="rect">
            <a:avLst/>
          </a:prstGeom>
          <a:solidFill>
            <a:srgbClr val="0D1930"/>
          </a:solidFill>
          <a:ln w="12700">
            <a:solidFill>
              <a:srgbClr val="A873F5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217920" y="303580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7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포트폴리오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17920" y="3493008"/>
            <a:ext cx="2651760" cy="502920"/>
          </a:xfrm>
          <a:prstGeom prst="rect">
            <a:avLst/>
          </a:prstGeom>
          <a:solidFill>
            <a:srgbClr val="3B7FF8">
              <a:alpha val="10000"/>
            </a:srgbClr>
          </a:solidFill>
          <a:ln w="12700">
            <a:solidFill>
              <a:srgbClr val="3B7FF8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27648" y="35204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7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 ①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132320" y="3520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베이지안 추론 기반 행동 예측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961120" y="3493008"/>
            <a:ext cx="2651760" cy="502920"/>
          </a:xfrm>
          <a:prstGeom prst="rect">
            <a:avLst/>
          </a:prstGeom>
          <a:solidFill>
            <a:srgbClr val="0DD4BF">
              <a:alpha val="10000"/>
            </a:srgbClr>
          </a:solidFill>
          <a:ln w="12700">
            <a:solidFill>
              <a:srgbClr val="0DD4BF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70848" y="35204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 ②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875520" y="3520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임계치 최적화 알고리즘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17920" y="4059936"/>
            <a:ext cx="2651760" cy="502920"/>
          </a:xfrm>
          <a:prstGeom prst="rect">
            <a:avLst/>
          </a:prstGeom>
          <a:solidFill>
            <a:srgbClr val="A873F5">
              <a:alpha val="10000"/>
            </a:srgbClr>
          </a:solidFill>
          <a:ln w="12700">
            <a:solidFill>
              <a:srgbClr val="A873F5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27648" y="408736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7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 ③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32320" y="4087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비지도학습 패턴 발굴 엔진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961120" y="4059936"/>
            <a:ext cx="2651760" cy="502920"/>
          </a:xfrm>
          <a:prstGeom prst="rect">
            <a:avLst/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070848" y="408736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 ④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875520" y="4087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CDE 시계열 시뮬레이션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217920" y="4663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Living Profile® 상표등록 3건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217920" y="50109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법인 설립 2025.09.11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217920" y="535838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Toss Payments 가맹 완료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217920" y="57058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행안부 TRACK2 서면심사 통과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57200" y="6291072"/>
            <a:ext cx="11247120" cy="384048"/>
          </a:xfrm>
          <a:prstGeom prst="rect">
            <a:avLst/>
          </a:prstGeom>
          <a:solidFill>
            <a:srgbClr val="0DD4BF">
              <a:alpha val="12000"/>
            </a:srgbClr>
          </a:solidFill>
          <a:ln w="12700">
            <a:solidFill>
              <a:srgbClr val="0DD4BF">
                <a:alpha val="6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62910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채용 계획 (Seed 후): ML 엔지니어 + 공공사업 PM + 영업 1명 — Series A 이후 팀 10명 목표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6400800" cy="6400800"/>
          </a:xfrm>
          <a:prstGeom prst="ellipse">
            <a:avLst/>
          </a:prstGeom>
          <a:solidFill>
            <a:srgbClr val="3B7FF8">
              <a:alpha val="6000"/>
            </a:srgbClr>
          </a:solidFill>
          <a:ln w="12700">
            <a:solidFill>
              <a:srgbClr val="3B7FF8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N-KAI와 함께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 금융의 타이밍을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선점하십시오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11247120" cy="1280160"/>
          </a:xfrm>
          <a:prstGeom prst="rect">
            <a:avLst/>
          </a:prstGeom>
          <a:solidFill>
            <a:srgbClr val="0D1930"/>
          </a:solidFill>
          <a:ln w="19050">
            <a:solidFill>
              <a:srgbClr val="D4AF37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3310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 목표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₩5억 (Seed)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566160" y="3310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Pre-Money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36118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₩25억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0" y="3310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36118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18개월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235440" y="3310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목표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235440" y="36118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/ IPO 2029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81728"/>
            <a:ext cx="3611880" cy="1554480"/>
          </a:xfrm>
          <a:prstGeom prst="rect">
            <a:avLst/>
          </a:prstGeom>
          <a:solidFill>
            <a:srgbClr val="0D1930"/>
          </a:solidFill>
          <a:ln w="12700">
            <a:solidFill>
              <a:srgbClr val="D4AF3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47731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방어 가능한 해자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52120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 4건 + 마이데이터 2.0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55046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후발주자 재현 18개월+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4681728"/>
            <a:ext cx="3611880" cy="1554480"/>
          </a:xfrm>
          <a:prstGeom prst="rect">
            <a:avLst/>
          </a:prstGeom>
          <a:solidFill>
            <a:srgbClr val="0D1930"/>
          </a:solidFill>
          <a:ln w="12700">
            <a:solidFill>
              <a:srgbClr val="D4AF3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34840" y="47731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실증된 기술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34840" y="52120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90일 PoC N-Score 78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55046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예측정확도 89.3%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38160" y="4681728"/>
            <a:ext cx="3611880" cy="1554480"/>
          </a:xfrm>
          <a:prstGeom prst="rect">
            <a:avLst/>
          </a:prstGeom>
          <a:solidFill>
            <a:srgbClr val="0D1930"/>
          </a:solidFill>
          <a:ln w="12700">
            <a:solidFill>
              <a:srgbClr val="D4AF3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75320" y="47731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창업자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75320" y="52120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롯데카드 20년 + 폐암 극복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75320" y="55046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없는 루틴 3.5년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이원재  |  뉴린카이로스에이아이(주)  |  cpo@neurinkairosai.ai  |  010-3816-6178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N-KAI Living Profile — Investor Deck v11</dc:title>
  <dc:subject>PptxGenJS Presentation</dc:subject>
  <dc:creator>이원재 / 뉴린카이로스에이아이(주)</dc:creator>
  <cp:lastModifiedBy>이원재 / 뉴린카이로스에이아이(주)</cp:lastModifiedBy>
  <cp:revision>1</cp:revision>
  <dcterms:created xsi:type="dcterms:W3CDTF">2026-03-09T10:41:39Z</dcterms:created>
  <dcterms:modified xsi:type="dcterms:W3CDTF">2026-03-09T10:41:39Z</dcterms:modified>
</cp:coreProperties>
</file>