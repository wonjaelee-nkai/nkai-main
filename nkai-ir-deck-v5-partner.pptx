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D98A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097280"/>
            <a:ext cx="5943600" cy="5943600"/>
          </a:xfrm>
          <a:prstGeom prst="ellipse">
            <a:avLst/>
          </a:prstGeom>
          <a:solidFill>
            <a:srgbClr val="10D98A">
              <a:alpha val="6000"/>
            </a:srgbClr>
          </a:solidFill>
          <a:ln w="12700">
            <a:solidFill>
              <a:srgbClr val="10D98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75488"/>
            <a:ext cx="2286000" cy="329184"/>
          </a:xfrm>
          <a:prstGeom prst="rect">
            <a:avLst/>
          </a:prstGeom>
          <a:solidFill>
            <a:srgbClr val="10D98A">
              <a:alpha val="18000"/>
            </a:srgbClr>
          </a:solidFill>
          <a:ln w="12700">
            <a:solidFill>
              <a:srgbClr val="10D98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754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PROPOSAL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뉴린카이로스에이아이(주)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 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Profile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파트너십 제안 — 함께 미래 금융을 설계합니다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3337560"/>
            <a:ext cx="3639312" cy="1572768"/>
          </a:xfrm>
          <a:prstGeom prst="rect">
            <a:avLst/>
          </a:prstGeom>
          <a:solidFill>
            <a:srgbClr val="0D1930"/>
          </a:solidFill>
          <a:ln w="12700">
            <a:solidFill>
              <a:srgbClr val="10D98A">
                <a:alpha val="65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" y="3429000"/>
            <a:ext cx="3310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+209%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76072" y="41605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정확도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44622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대비 창업 6개월 실측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61104" y="3337560"/>
            <a:ext cx="3639312" cy="1572768"/>
          </a:xfrm>
          <a:prstGeom prst="rect">
            <a:avLst/>
          </a:prstGeom>
          <a:solidFill>
            <a:srgbClr val="0D1930"/>
          </a:solidFill>
          <a:ln w="12700">
            <a:solidFill>
              <a:srgbClr val="0DD4BF">
                <a:alpha val="65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25696" y="3429000"/>
            <a:ext cx="3310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-78%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425696" y="41605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25696" y="44622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38% → 8.3%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10728" y="3337560"/>
            <a:ext cx="3639312" cy="1572768"/>
          </a:xfrm>
          <a:prstGeom prst="rect">
            <a:avLst/>
          </a:prstGeom>
          <a:solidFill>
            <a:srgbClr val="0D1930"/>
          </a:solidFill>
          <a:ln w="12700">
            <a:solidFill>
              <a:srgbClr val="D4AF37">
                <a:alpha val="65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75320" y="3429000"/>
            <a:ext cx="3310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342배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275320" y="41605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44622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카드사 기준 투자대비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640080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이원재  CEO  |  cpo@neurinkairosai.ai  |  010-3816-6178  |  2026.04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WHY THIS PERSON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사람인가 — 숫자 이전에 신뢰입니다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11338560" cy="1389888"/>
          </a:xfrm>
          <a:prstGeom prst="rect">
            <a:avLst/>
          </a:prstGeom>
          <a:solidFill>
            <a:srgbClr val="0D1930"/>
          </a:solidFill>
          <a:ln w="19050">
            <a:solidFill>
              <a:srgbClr val="0DD4BF">
                <a:alpha val="8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73152" cy="1389888"/>
          </a:xfrm>
          <a:prstGeom prst="rect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89888"/>
            <a:ext cx="11045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"2022년 폐암수술 후, 생존을 위해 매일 아침 루틴을 데이터로 기록했습니다.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2648" y="1801368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물, 삶은계란 2개, 그릭요거트 — 3.5년 째 단 한 번도 어기지 않았습니다.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" y="2167128"/>
            <a:ext cx="11045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순간 깨달았습니다. 행동 패턴이 미래를 예측한다는 것을. N-KAI는 그 통찰에서 시작됐습니다."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1480" y="2852928"/>
            <a:ext cx="3639312" cy="2788920"/>
          </a:xfrm>
          <a:prstGeom prst="rect">
            <a:avLst/>
          </a:prstGeom>
          <a:solidFill>
            <a:srgbClr val="0D1930"/>
          </a:solidFill>
          <a:ln w="15240">
            <a:solidFill>
              <a:srgbClr val="D4AF37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852928"/>
            <a:ext cx="3639312" cy="420624"/>
          </a:xfrm>
          <a:prstGeom prst="rect">
            <a:avLst/>
          </a:prstGeom>
          <a:solidFill>
            <a:srgbClr val="D4AF37">
              <a:alpha val="3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85292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롯데카드 20년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" y="34198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FDS·여신심사·마케팅·신사업기획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" y="38770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카드업 전 분야 실전 경험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43342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리스크·데이터·비즈니스 3축 보유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61104" y="2852928"/>
            <a:ext cx="3639312" cy="2788920"/>
          </a:xfrm>
          <a:prstGeom prst="rect">
            <a:avLst/>
          </a:prstGeom>
          <a:solidFill>
            <a:srgbClr val="0D1930"/>
          </a:solidFill>
          <a:ln w="15240">
            <a:solidFill>
              <a:srgbClr val="F04F4F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61104" y="2852928"/>
            <a:ext cx="3639312" cy="420624"/>
          </a:xfrm>
          <a:prstGeom prst="rect">
            <a:avLst/>
          </a:prstGeom>
          <a:solidFill>
            <a:srgbClr val="F04F4F">
              <a:alpha val="32000"/>
            </a:srgbClr>
          </a:solidFill>
          <a:ln w="12700">
            <a:solidFill>
              <a:srgbClr val="F04F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5696" y="285292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폐암극복 생존루틴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25696" y="34198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2022.09 수술 후 완전 회복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25696" y="38770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3.5년 연속 루틴 — Posterior 0.99+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25696" y="43342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자신의 행동 데이터로 생존 증명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10728" y="2852928"/>
            <a:ext cx="3639312" cy="2788920"/>
          </a:xfrm>
          <a:prstGeom prst="rect">
            <a:avLst/>
          </a:prstGeom>
          <a:solidFill>
            <a:srgbClr val="0D1930"/>
          </a:solidFill>
          <a:ln w="15240">
            <a:solidFill>
              <a:srgbClr val="10D98A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10728" y="2852928"/>
            <a:ext cx="3639312" cy="420624"/>
          </a:xfrm>
          <a:prstGeom prst="rect">
            <a:avLst/>
          </a:prstGeom>
          <a:solidFill>
            <a:srgbClr val="10D98A">
              <a:alpha val="32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285292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창업 6개월 실증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75320" y="34198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2025.09 법인설립 즉시 기술개발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75320" y="38770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특허 4건 + 상표 3건 동시 출원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75320" y="43342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N-Score 78 / 예측정확도 89.3%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10D98A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파트너 가치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N-KAI가 귀사에 드리는 3가지 선물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639312" cy="4160520"/>
          </a:xfrm>
          <a:prstGeom prst="rect">
            <a:avLst/>
          </a:prstGeom>
          <a:solidFill>
            <a:srgbClr val="0D1930"/>
          </a:solidFill>
          <a:ln w="15240">
            <a:solidFill>
              <a:srgbClr val="10D98A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3639312" cy="420624"/>
          </a:xfrm>
          <a:prstGeom prst="rect">
            <a:avLst/>
          </a:prstGeom>
          <a:solidFill>
            <a:srgbClr val="10D98A">
              <a:alpha val="32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984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매출 증대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179222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행동 예측 → 선제 마케팅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2103120"/>
            <a:ext cx="3310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76072" y="277977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정확도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" y="317296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이탈 예정 고객 30일 전 탐지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359359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최적 타이밍에 맞춤 오퍼 발송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" y="401421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카드사 기준 전환율 +209% 실증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1104" y="1298448"/>
            <a:ext cx="3639312" cy="4160520"/>
          </a:xfrm>
          <a:prstGeom prst="rect">
            <a:avLst/>
          </a:prstGeom>
          <a:solidFill>
            <a:srgbClr val="0D1930"/>
          </a:solidFill>
          <a:ln w="15240">
            <a:solidFill>
              <a:srgbClr val="3B7FF8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1104" y="1298448"/>
            <a:ext cx="3639312" cy="420624"/>
          </a:xfrm>
          <a:prstGeom prst="rect">
            <a:avLst/>
          </a:prstGeom>
          <a:solidFill>
            <a:srgbClr val="3B7FF8">
              <a:alpha val="32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5696" y="12984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FDS 혁신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25696" y="179222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이상탐지 + 오탐율 감소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25696" y="2103120"/>
            <a:ext cx="3310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-78%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425696" y="277977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오탐율 감소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25696" y="317296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9축 행동 패턴 실시간 스코어링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25696" y="359359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오탐율 38% → 8.3% 혁신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25696" y="401421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고객 불만 콜 대폭 감소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10728" y="1298448"/>
            <a:ext cx="3639312" cy="4160520"/>
          </a:xfrm>
          <a:prstGeom prst="rect">
            <a:avLst/>
          </a:prstGeom>
          <a:solidFill>
            <a:srgbClr val="0D1930"/>
          </a:solidFill>
          <a:ln w="15240">
            <a:solidFill>
              <a:srgbClr val="A873F5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0728" y="1298448"/>
            <a:ext cx="3639312" cy="420624"/>
          </a:xfrm>
          <a:prstGeom prst="rect">
            <a:avLst/>
          </a:prstGeom>
          <a:solidFill>
            <a:srgbClr val="A873F5">
              <a:alpha val="32000"/>
            </a:srgbClr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12984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프라이버시 보장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5320" y="179222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ZKP 원데이터 제로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2103120"/>
            <a:ext cx="3310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bytes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275320" y="277977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원데이터 이전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75320" y="317296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원본 데이터 이전 없음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359359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개인정보보호법 완전 준수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5320" y="401421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규제 리스크 ZERO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5687568"/>
            <a:ext cx="11338560" cy="960120"/>
          </a:xfrm>
          <a:prstGeom prst="rect">
            <a:avLst/>
          </a:prstGeom>
          <a:solidFill>
            <a:srgbClr val="10D98A">
              <a:alpha val="12000"/>
            </a:srgbClr>
          </a:solidFill>
          <a:ln w="15240">
            <a:solidFill>
              <a:srgbClr val="10D98A">
                <a:alpha val="70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" y="5687568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창업 6개월 실증 완료  |  특허 4건  |  카드사·핀테크·지자체 즉시 적용 가능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A873F5"/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경쟁사 비교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"같은 카테고리가 아닙니다" — 재현 불가 3년+ 기술 격차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1338560" cy="530352"/>
          </a:xfrm>
          <a:prstGeom prst="rect">
            <a:avLst/>
          </a:prstGeom>
          <a:solidFill>
            <a:srgbClr val="A873F5">
              <a:alpha val="16000"/>
            </a:srgbClr>
          </a:solidFill>
          <a:ln w="19050">
            <a:solidFill>
              <a:srgbClr val="A873F5">
                <a:alpha val="8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618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NICE·KCB는 과거 데이터 창고  </a:t>
            </a:r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"같은 카테고리가 아닙니다"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N-KAI는 실시간 행동 예측 엔진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374904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3A455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0195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901952"/>
            <a:ext cx="160020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3A455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901952"/>
            <a:ext cx="160020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3A4558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4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NICE·KCB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1901952"/>
            <a:ext cx="160020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3A455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4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핀테크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326880" y="1901952"/>
            <a:ext cx="237744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3A4558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19019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4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AI스코어링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2377440"/>
            <a:ext cx="37490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77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스코어링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51960" y="2377440"/>
            <a:ext cx="1600200" cy="457200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0" y="2377440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635240" y="2377440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326880" y="2377440"/>
            <a:ext cx="23774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11480" y="2889504"/>
            <a:ext cx="37490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8895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9축 비정형 행동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51960" y="2889504"/>
            <a:ext cx="1600200" cy="457200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28895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943600" y="2889504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8895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635240" y="2889504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28895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326880" y="2889504"/>
            <a:ext cx="23774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28895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11480" y="3401568"/>
            <a:ext cx="37490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401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ZKP 프라이버시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251960" y="3401568"/>
            <a:ext cx="1600200" cy="457200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3400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943600" y="3401568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635240" y="3401568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26680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326880" y="3401568"/>
            <a:ext cx="23774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0" y="3401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11480" y="3913632"/>
            <a:ext cx="37490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9136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특허 알고리즘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251960" y="3913632"/>
            <a:ext cx="1600200" cy="457200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3400" y="39136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5943600" y="3913632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0" y="39136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635240" y="3913632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26680" y="39136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9326880" y="3913632"/>
            <a:ext cx="23774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18320" y="39136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411480" y="4425696"/>
            <a:ext cx="37490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442569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공공×금융 통합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251960" y="4425696"/>
            <a:ext cx="1600200" cy="457200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43400" y="44256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5943600" y="4425696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35040" y="44256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7635240" y="4425696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26680" y="44256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9326880" y="4425696"/>
            <a:ext cx="23774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18320" y="442569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411480" y="4937760"/>
            <a:ext cx="37490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9377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개방형 SDK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251960" y="4937760"/>
            <a:ext cx="1600200" cy="457200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43400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5943600" y="4937760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35040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7635240" y="4937760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26680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9326880" y="4937760"/>
            <a:ext cx="23774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418320" y="4937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411480" y="5614416"/>
            <a:ext cx="11338560" cy="987552"/>
          </a:xfrm>
          <a:prstGeom prst="rect">
            <a:avLst/>
          </a:prstGeom>
          <a:solidFill>
            <a:srgbClr val="0F2040"/>
          </a:solidFill>
          <a:ln w="15240">
            <a:solidFill>
              <a:srgbClr val="D4AF37">
                <a:alpha val="65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576072" y="565099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후발주자 재현 불가: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2788920" y="5650992"/>
            <a:ext cx="8778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4건 (등록까지 18개월+)  </a:t>
            </a:r>
            <a:pPr indent="0" marL="0">
              <a:buNone/>
            </a:pPr>
            <a:r>
              <a:rPr lang="en-US" sz="1250" dirty="0">
                <a:solidFill>
                  <a:srgbClr val="3A4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25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실증 데이터 (재현 불가)  </a:t>
            </a:r>
            <a:pPr indent="0" marL="0">
              <a:buNone/>
            </a:pPr>
            <a:r>
              <a:rPr lang="en-US" sz="1250" dirty="0">
                <a:solidFill>
                  <a:srgbClr val="3A4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25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마이데이터 2.0 선점 (법적 우위)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ROI 실증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vs 후 — 카드사 기준 342배 ROI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5486400" cy="4315968"/>
          </a:xfrm>
          <a:prstGeom prst="rect">
            <a:avLst/>
          </a:prstGeom>
          <a:solidFill>
            <a:srgbClr val="1A0A0A"/>
          </a:solidFill>
          <a:ln w="19050">
            <a:solidFill>
              <a:srgbClr val="F04F4F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5486400" cy="420624"/>
          </a:xfrm>
          <a:prstGeom prst="rect">
            <a:avLst/>
          </a:prstGeom>
          <a:solidFill>
            <a:srgbClr val="F04F4F">
              <a:alpha val="45000"/>
            </a:srgbClr>
          </a:solidFill>
          <a:ln w="12700">
            <a:solidFill>
              <a:srgbClr val="F04F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98448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(현재)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1865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탐지율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8653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6072" y="2523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오탐율 (고객불만)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5237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072" y="3182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신용평가 주기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31821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6072" y="3840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데이터 활용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8404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미활용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6072" y="4498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취약계층 사각지대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44988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2,847명+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63640" y="1298448"/>
            <a:ext cx="5486400" cy="4315968"/>
          </a:xfrm>
          <a:prstGeom prst="rect">
            <a:avLst/>
          </a:prstGeom>
          <a:solidFill>
            <a:srgbClr val="071A0F"/>
          </a:solidFill>
          <a:ln w="19050">
            <a:solidFill>
              <a:srgbClr val="10D98A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298448"/>
            <a:ext cx="5486400" cy="420624"/>
          </a:xfrm>
          <a:prstGeom prst="rect">
            <a:avLst/>
          </a:prstGeom>
          <a:solidFill>
            <a:srgbClr val="10D98A">
              <a:alpha val="45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298448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후 (N-KAI)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28232" y="1865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탐지율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89720" y="18653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 ▲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28232" y="2523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89720" y="25237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 ▼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28232" y="3182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스코어링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89720" y="31821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28232" y="3840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9축 행동 분석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89720" y="38404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적용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28232" y="4498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취약계층 발굴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89720" y="44988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탐지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11480" y="5687568"/>
            <a:ext cx="11338560" cy="960120"/>
          </a:xfrm>
          <a:prstGeom prst="rect">
            <a:avLst/>
          </a:prstGeom>
          <a:solidFill>
            <a:srgbClr val="D4AF37">
              <a:alpha val="14000"/>
            </a:srgbClr>
          </a:solidFill>
          <a:ln w="19050">
            <a:solidFill>
              <a:srgbClr val="D4AF37">
                <a:alpha val="8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5687568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카드사 5,000만 고객 기준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부정거래 예방 ₩840억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도입비용 ₩2.5억 =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342배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(사내 보고용 추정치)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리스크 제로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결정이 부담된다면 — 3중 보장으로 리스크를 제거합니다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639312" cy="4160520"/>
          </a:xfrm>
          <a:prstGeom prst="rect">
            <a:avLst/>
          </a:prstGeom>
          <a:solidFill>
            <a:srgbClr val="061A0D"/>
          </a:solidFill>
          <a:ln w="25400">
            <a:solidFill>
              <a:srgbClr val="10D98A">
                <a:alpha val="8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3639312" cy="420624"/>
          </a:xfrm>
          <a:prstGeom prst="rect">
            <a:avLst/>
          </a:prstGeom>
          <a:solidFill>
            <a:srgbClr val="10D98A">
              <a:alpha val="35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984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30일 무조건 환불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" y="1847088"/>
            <a:ext cx="438912" cy="438912"/>
          </a:xfrm>
          <a:prstGeom prst="rect">
            <a:avLst/>
          </a:prstGeom>
          <a:solidFill>
            <a:srgbClr val="10D98A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97864" y="182880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후 30일 내 미충족 시 전액 환불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2651760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ROI 미달 시 무조건 환불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31272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조건 없음, 서류 없음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" y="360273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파트너 리스크 =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1104" y="1298448"/>
            <a:ext cx="3639312" cy="4160520"/>
          </a:xfrm>
          <a:prstGeom prst="rect">
            <a:avLst/>
          </a:prstGeom>
          <a:solidFill>
            <a:srgbClr val="06101E"/>
          </a:solidFill>
          <a:ln w="25400">
            <a:solidFill>
              <a:srgbClr val="3B7FF8">
                <a:alpha val="8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1104" y="1298448"/>
            <a:ext cx="3639312" cy="420624"/>
          </a:xfrm>
          <a:prstGeom prst="rect">
            <a:avLst/>
          </a:prstGeom>
          <a:solidFill>
            <a:srgbClr val="3B7FF8">
              <a:alpha val="35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5696" y="12984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무료 PoC 제공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25696" y="1847088"/>
            <a:ext cx="438912" cy="438912"/>
          </a:xfrm>
          <a:prstGeom prst="rect">
            <a:avLst/>
          </a:prstGeom>
          <a:solidFill>
            <a:srgbClr val="3B7FF8"/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5696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7488" y="182880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전 30일 무료 실증 테스트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25696" y="2651760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실제 데이터로 30일 PoC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25696" y="31272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결과 미충족 시 계약 불필요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25696" y="360273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데이터 보안 완전 보장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10728" y="1298448"/>
            <a:ext cx="3639312" cy="4160520"/>
          </a:xfrm>
          <a:prstGeom prst="rect">
            <a:avLst/>
          </a:prstGeom>
          <a:solidFill>
            <a:srgbClr val="1A1306"/>
          </a:solidFill>
          <a:ln w="25400">
            <a:solidFill>
              <a:srgbClr val="D4AF37">
                <a:alpha val="8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0728" y="1298448"/>
            <a:ext cx="3639312" cy="420624"/>
          </a:xfrm>
          <a:prstGeom prst="rect">
            <a:avLst/>
          </a:prstGeom>
          <a:solidFill>
            <a:srgbClr val="D4AF37">
              <a:alpha val="3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12984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SLA 99.9% 페널티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75320" y="1847088"/>
            <a:ext cx="438912" cy="43891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97112" y="182880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수준 미달 시 자동 환급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5320" y="2651760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99.9% 가동률 보장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31272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미달 시 자동 크레딧 환급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5320" y="360273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24/7 기술 지원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5687568"/>
            <a:ext cx="11338560" cy="960120"/>
          </a:xfrm>
          <a:prstGeom prst="rect">
            <a:avLst/>
          </a:prstGeom>
          <a:solidFill>
            <a:srgbClr val="0DD4BF">
              <a:alpha val="12000"/>
            </a:srgbClr>
          </a:solidFill>
          <a:ln w="15240">
            <a:solidFill>
              <a:srgbClr val="0DD4BF">
                <a:alpha val="70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" y="5687568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결정 = 리스크 제로  |  첫 달 ROI 미달이면 전액 환불  |  지금 바로 무료 PoC 신청 가능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3B7FF8"/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활용 시나리오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귀사의 업종에 맞는 N-KAI 활용 방법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697480" cy="4160520"/>
          </a:xfrm>
          <a:prstGeom prst="rect">
            <a:avLst/>
          </a:prstGeom>
          <a:solidFill>
            <a:srgbClr val="1A1306"/>
          </a:solidFill>
          <a:ln w="15240">
            <a:solidFill>
              <a:srgbClr val="D4AF37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2697480" cy="420624"/>
          </a:xfrm>
          <a:prstGeom prst="rect">
            <a:avLst/>
          </a:prstGeom>
          <a:solidFill>
            <a:srgbClr val="D4AF37">
              <a:alpha val="3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984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[B2C]  금융사·카드사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79222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+ 마케팅 최적화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22128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실시간 부정거래 탐지 (94.7%)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688336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이탈 예측 + 선제 오퍼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316382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마이데이터 2.0 연동 신용평가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55264" y="1298448"/>
            <a:ext cx="2697480" cy="4160520"/>
          </a:xfrm>
          <a:prstGeom prst="rect">
            <a:avLst/>
          </a:prstGeom>
          <a:solidFill>
            <a:srgbClr val="061A0D"/>
          </a:solidFill>
          <a:ln w="15240">
            <a:solidFill>
              <a:srgbClr val="10D98A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55264" y="1298448"/>
            <a:ext cx="2697480" cy="420624"/>
          </a:xfrm>
          <a:prstGeom prst="rect">
            <a:avLst/>
          </a:prstGeom>
          <a:solidFill>
            <a:srgbClr val="10D98A">
              <a:alpha val="32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12984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[B2G]  공공기관·지자체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9856" y="179222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복지 대상자 선제 발굴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9856" y="22128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N-Score로 취약계층 조기 탐지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19856" y="2688336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정책 효과 A/B 자동 검증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19856" y="316382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행안부 TRACK2 연계 가능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9048" y="1298448"/>
            <a:ext cx="2697480" cy="4160520"/>
          </a:xfrm>
          <a:prstGeom prst="rect">
            <a:avLst/>
          </a:prstGeom>
          <a:solidFill>
            <a:srgbClr val="06101E"/>
          </a:solidFill>
          <a:ln w="15240">
            <a:solidFill>
              <a:srgbClr val="3B7FF8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99048" y="1298448"/>
            <a:ext cx="2697480" cy="420624"/>
          </a:xfrm>
          <a:prstGeom prst="rect">
            <a:avLst/>
          </a:prstGeom>
          <a:solidFill>
            <a:srgbClr val="3B7FF8">
              <a:alpha val="32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2984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[API]  핀테크·플랫폼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79222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 스코어링 서비스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22128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1회 호출로 N-Score 반환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688336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월 구독 SDK 라이선스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16382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B2C 개인 금융건강 리포트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42832" y="1298448"/>
            <a:ext cx="2697480" cy="4160520"/>
          </a:xfrm>
          <a:prstGeom prst="rect">
            <a:avLst/>
          </a:prstGeom>
          <a:solidFill>
            <a:srgbClr val="100A1A"/>
          </a:solidFill>
          <a:ln w="15240">
            <a:solidFill>
              <a:srgbClr val="A873F5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42832" y="1298448"/>
            <a:ext cx="2697480" cy="420624"/>
          </a:xfrm>
          <a:prstGeom prst="rect">
            <a:avLst/>
          </a:prstGeom>
          <a:solidFill>
            <a:srgbClr val="A873F5">
              <a:alpha val="32000"/>
            </a:srgbClr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7424" y="12984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[INS]  보험·헬스케어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07424" y="179222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기반 위험도 예측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07424" y="22128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생활 루틴 → 건강 리스크 예측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07424" y="2688336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ZKP 완전 프라이버시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07424" y="316382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보험료 행동 할인 적용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5687568"/>
            <a:ext cx="11338560" cy="960120"/>
          </a:xfrm>
          <a:prstGeom prst="rect">
            <a:avLst/>
          </a:prstGeom>
          <a:solidFill>
            <a:srgbClr val="3B7FF8">
              <a:alpha val="14000"/>
            </a:srgbClr>
          </a:solidFill>
          <a:ln w="15240">
            <a:solidFill>
              <a:srgbClr val="3B7FF8">
                <a:alpha val="70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" y="5687568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업종 공통: ZKP 원데이터 제로  |  API 연동 1주 이내  |  특허 4건 기술 즉시 활용 가능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A873F5"/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기술 &amp; 패키지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 작동 플로우 × 3가지 파트너 패키지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103120" cy="987552"/>
          </a:xfrm>
          <a:prstGeom prst="rect">
            <a:avLst/>
          </a:prstGeom>
          <a:solidFill>
            <a:srgbClr val="0D1930"/>
          </a:solidFill>
          <a:ln w="19050">
            <a:solidFill>
              <a:srgbClr val="3B7FF8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2103120" cy="347472"/>
          </a:xfrm>
          <a:prstGeom prst="rect">
            <a:avLst/>
          </a:prstGeom>
          <a:solidFill>
            <a:srgbClr val="3B7FF8">
              <a:alpha val="30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82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9축 행동로그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51176" y="1572768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15768" y="1298448"/>
            <a:ext cx="2103120" cy="987552"/>
          </a:xfrm>
          <a:prstGeom prst="rect">
            <a:avLst/>
          </a:prstGeom>
          <a:solidFill>
            <a:srgbClr val="0D1930"/>
          </a:solidFill>
          <a:ln w="19050">
            <a:solidFill>
              <a:srgbClr val="0DD4BF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15768" y="1298448"/>
            <a:ext cx="2103120" cy="347472"/>
          </a:xfrm>
          <a:prstGeom prst="rect">
            <a:avLst/>
          </a:prstGeom>
          <a:solidFill>
            <a:srgbClr val="0DD4BF">
              <a:alpha val="30000"/>
            </a:srgbClr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07208" y="1682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처리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07208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특허 엔진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55464" y="1572768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0056" y="1298448"/>
            <a:ext cx="2103120" cy="987552"/>
          </a:xfrm>
          <a:prstGeom prst="rect">
            <a:avLst/>
          </a:prstGeom>
          <a:solidFill>
            <a:srgbClr val="0D1930"/>
          </a:solidFill>
          <a:ln w="19050">
            <a:solidFill>
              <a:srgbClr val="10D98A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0056" y="1298448"/>
            <a:ext cx="2103120" cy="347472"/>
          </a:xfrm>
          <a:prstGeom prst="rect">
            <a:avLst/>
          </a:prstGeom>
          <a:solidFill>
            <a:srgbClr val="10D98A">
              <a:alpha val="30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11496" y="1682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산출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11496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0~100 실시간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59752" y="1572768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24344" y="1298448"/>
            <a:ext cx="2103120" cy="987552"/>
          </a:xfrm>
          <a:prstGeom prst="rect">
            <a:avLst/>
          </a:prstGeom>
          <a:solidFill>
            <a:srgbClr val="0D1930"/>
          </a:solidFill>
          <a:ln w="19050">
            <a:solidFill>
              <a:srgbClr val="D4AF37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24344" y="1298448"/>
            <a:ext cx="2103120" cy="347472"/>
          </a:xfrm>
          <a:prstGeom prst="rect">
            <a:avLst/>
          </a:prstGeom>
          <a:solidFill>
            <a:srgbClr val="D4AF37">
              <a:alpha val="3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15784" y="1682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 생성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15784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반사실 분석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64040" y="1572768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28632" y="1298448"/>
            <a:ext cx="2103120" cy="987552"/>
          </a:xfrm>
          <a:prstGeom prst="rect">
            <a:avLst/>
          </a:prstGeom>
          <a:solidFill>
            <a:srgbClr val="0D1930"/>
          </a:solidFill>
          <a:ln w="19050">
            <a:solidFill>
              <a:srgbClr val="A873F5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28632" y="1298448"/>
            <a:ext cx="2103120" cy="347472"/>
          </a:xfrm>
          <a:prstGeom prst="rect">
            <a:avLst/>
          </a:prstGeom>
          <a:solidFill>
            <a:srgbClr val="A873F5">
              <a:alpha val="30000"/>
            </a:srgbClr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20072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720072" y="1682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연동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20072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SDK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2670048"/>
            <a:ext cx="3639312" cy="3337560"/>
          </a:xfrm>
          <a:prstGeom prst="rect">
            <a:avLst/>
          </a:prstGeom>
          <a:solidFill>
            <a:srgbClr val="0D1930"/>
          </a:solidFill>
          <a:ln w="15240">
            <a:solidFill>
              <a:srgbClr val="3B7FF8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2670048"/>
            <a:ext cx="3639312" cy="402336"/>
          </a:xfrm>
          <a:prstGeom prst="rect">
            <a:avLst/>
          </a:prstGeom>
          <a:solidFill>
            <a:srgbClr val="3B7FF8">
              <a:alpha val="32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00984" y="2670048"/>
            <a:ext cx="658368" cy="329184"/>
          </a:xfrm>
          <a:prstGeom prst="rect">
            <a:avLst/>
          </a:prstGeom>
          <a:solidFill>
            <a:srgbClr val="3B7FF8">
              <a:alpha val="42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00984" y="267004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" y="267004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76072" y="314553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API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6072" y="3456432"/>
            <a:ext cx="3310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₩9,900/월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76072" y="413308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월간 N-Score 100건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76072" y="460857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기본 FDS 모니터링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76072" y="5084064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이메일 리포트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261104" y="2670048"/>
            <a:ext cx="3639312" cy="3337560"/>
          </a:xfrm>
          <a:prstGeom prst="rect">
            <a:avLst/>
          </a:prstGeom>
          <a:solidFill>
            <a:srgbClr val="0D1930"/>
          </a:solidFill>
          <a:ln w="31750">
            <a:solidFill>
              <a:srgbClr val="D4AF3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61104" y="2414016"/>
            <a:ext cx="1097280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61104" y="2414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261104" y="2670048"/>
            <a:ext cx="3639312" cy="402336"/>
          </a:xfrm>
          <a:prstGeom prst="rect">
            <a:avLst/>
          </a:prstGeom>
          <a:solidFill>
            <a:srgbClr val="D4AF37">
              <a:alpha val="3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50608" y="2670048"/>
            <a:ext cx="658368" cy="329184"/>
          </a:xfrm>
          <a:prstGeom prst="rect">
            <a:avLst/>
          </a:prstGeom>
          <a:solidFill>
            <a:srgbClr val="D4AF37">
              <a:alpha val="4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50608" y="267004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425696" y="267004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425696" y="314553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+ 대시보드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425696" y="3456432"/>
            <a:ext cx="3310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₩49,900/월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425696" y="413308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무제한 API 호출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425696" y="460857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실시간 대시보드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425696" y="5084064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전용 기술지원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110728" y="2670048"/>
            <a:ext cx="3639312" cy="3337560"/>
          </a:xfrm>
          <a:prstGeom prst="rect">
            <a:avLst/>
          </a:prstGeom>
          <a:solidFill>
            <a:srgbClr val="0D1930"/>
          </a:solidFill>
          <a:ln w="15240">
            <a:solidFill>
              <a:srgbClr val="10D98A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110728" y="2670048"/>
            <a:ext cx="3639312" cy="402336"/>
          </a:xfrm>
          <a:prstGeom prst="rect">
            <a:avLst/>
          </a:prstGeom>
          <a:solidFill>
            <a:srgbClr val="10D98A">
              <a:alpha val="32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000232" y="2670048"/>
            <a:ext cx="658368" cy="329184"/>
          </a:xfrm>
          <a:prstGeom prst="rect">
            <a:avLst/>
          </a:prstGeom>
          <a:solidFill>
            <a:srgbClr val="10D98A">
              <a:alpha val="42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000232" y="267004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75320" y="267004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275320" y="314553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N-Core 기술자문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275320" y="3456432"/>
            <a:ext cx="3310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₩5,000만+/년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8275320" y="413308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4대 알고리즘 라이선스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8275320" y="460857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전용 모델 커스터마이즈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8275320" y="5084064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onsite 컨설팅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D98A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10D98A">
              <a:alpha val="6000"/>
            </a:srgbClr>
          </a:solidFill>
          <a:ln w="12700">
            <a:solidFill>
              <a:srgbClr val="10D98A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지금이 골든타임입니다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시작하십시오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2852928"/>
            <a:ext cx="3639312" cy="2487168"/>
          </a:xfrm>
          <a:prstGeom prst="rect">
            <a:avLst/>
          </a:prstGeom>
          <a:solidFill>
            <a:srgbClr val="0D1930"/>
          </a:solidFill>
          <a:ln w="19050">
            <a:solidFill>
              <a:srgbClr val="D4AF37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2852928"/>
            <a:ext cx="3639312" cy="402336"/>
          </a:xfrm>
          <a:prstGeom prst="rect">
            <a:avLst/>
          </a:prstGeom>
          <a:solidFill>
            <a:srgbClr val="D4AF37">
              <a:alpha val="3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285292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LOI 체결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3328416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의향서 → 협의 시작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371246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기술자문 계약 동시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411480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월 ₩49,900 ~ 협의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61104" y="2852928"/>
            <a:ext cx="3639312" cy="2487168"/>
          </a:xfrm>
          <a:prstGeom prst="rect">
            <a:avLst/>
          </a:prstGeom>
          <a:solidFill>
            <a:srgbClr val="0D1930"/>
          </a:solidFill>
          <a:ln w="19050">
            <a:solidFill>
              <a:srgbClr val="0DD4BF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61104" y="2852928"/>
            <a:ext cx="3639312" cy="402336"/>
          </a:xfrm>
          <a:prstGeom prst="rect">
            <a:avLst/>
          </a:prstGeom>
          <a:solidFill>
            <a:srgbClr val="0DD4BF">
              <a:alpha val="32000"/>
            </a:srgbClr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285292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무료 PoC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3328416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30일 무료 실증 테스트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25696" y="371246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실제 데이터로 검증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25696" y="411480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ROI 산출 보고서 제공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10728" y="2852928"/>
            <a:ext cx="3639312" cy="2487168"/>
          </a:xfrm>
          <a:prstGeom prst="rect">
            <a:avLst/>
          </a:prstGeom>
          <a:solidFill>
            <a:srgbClr val="0D1930"/>
          </a:solidFill>
          <a:ln w="19050">
            <a:solidFill>
              <a:srgbClr val="10D98A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10728" y="2852928"/>
            <a:ext cx="3639312" cy="402336"/>
          </a:xfrm>
          <a:prstGeom prst="rect">
            <a:avLst/>
          </a:prstGeom>
          <a:solidFill>
            <a:srgbClr val="10D98A">
              <a:alpha val="32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85292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정식 계약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75320" y="3328416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기반 구조 협의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371246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성과형·고정형 선택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411480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마이데이터 2.0 골든타임 진입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5596128"/>
            <a:ext cx="11338560" cy="1024128"/>
          </a:xfrm>
          <a:prstGeom prst="rect">
            <a:avLst/>
          </a:prstGeom>
          <a:solidFill>
            <a:srgbClr val="10D98A">
              <a:alpha val="14000"/>
            </a:srgbClr>
          </a:solidFill>
          <a:ln w="25400">
            <a:solidFill>
              <a:srgbClr val="10D98A">
                <a:alpha val="85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55961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마이데이터 2.0 골든타임 — 선점 파트너만 독점 기간 수혜  ★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" y="6080760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이원재  |  cpo@neurinkairosai.ai  |  010-3816-6178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N-KAI Living Profile — Partner Proposal v5</dc:title>
  <dc:subject>PptxGenJS Presentation</dc:subject>
  <dc:creator>PptxGenJS</dc:creator>
  <cp:lastModifiedBy>PptxGenJS</cp:lastModifiedBy>
  <cp:revision>1</cp:revision>
  <dcterms:created xsi:type="dcterms:W3CDTF">2026-03-09T14:25:25Z</dcterms:created>
  <dcterms:modified xsi:type="dcterms:W3CDTF">2026-03-09T14:25:25Z</dcterms:modified>
</cp:coreProperties>
</file>